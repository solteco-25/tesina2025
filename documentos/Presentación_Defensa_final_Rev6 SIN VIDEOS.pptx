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Literata" charset="1" panose="00000000000000000000"/>
      <p:regular r:id="rId34"/>
    </p:embeddedFont>
    <p:embeddedFont>
      <p:font typeface="Rugrats Sans" charset="1" panose="00000000000000000000"/>
      <p:regular r:id="rId35"/>
    </p:embeddedFont>
    <p:embeddedFont>
      <p:font typeface="Vollkorn Bold" charset="1" panose="00000800000000000000"/>
      <p:regular r:id="rId36"/>
    </p:embeddedFont>
    <p:embeddedFont>
      <p:font typeface="Literata Bold" charset="1" panose="00000000000000000000"/>
      <p:regular r:id="rId39"/>
    </p:embeddedFont>
    <p:embeddedFont>
      <p:font typeface="Questrial" charset="1" panose="02000000000000000000"/>
      <p:regular r:id="rId40"/>
    </p:embeddedFont>
    <p:embeddedFont>
      <p:font typeface="Vollkorn" charset="1" panose="00000500000000000000"/>
      <p:regular r:id="rId51"/>
    </p:embeddedFont>
    <p:embeddedFont>
      <p:font typeface="Anton" charset="1" panose="0000050000000000000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2.xml" Type="http://schemas.openxmlformats.org/officeDocument/2006/relationships/notesSlide"/><Relationship Id="rId38" Target="notesSlides/notesSlide3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3.xml" Type="http://schemas.openxmlformats.org/officeDocument/2006/relationships/notesSlide"/><Relationship Id="rId51" Target="fonts/font51.fntdata" Type="http://schemas.openxmlformats.org/officeDocument/2006/relationships/font"/><Relationship Id="rId52" Target="notesSlides/notesSlide14.xml" Type="http://schemas.openxmlformats.org/officeDocument/2006/relationships/notesSlide"/><Relationship Id="rId53" Target="fonts/font53.fntdata" Type="http://schemas.openxmlformats.org/officeDocument/2006/relationships/font"/><Relationship Id="rId54" Target="notesSlides/notesSlide15.xml" Type="http://schemas.openxmlformats.org/officeDocument/2006/relationships/notesSlide"/><Relationship Id="rId55" Target="notesSlides/notesSlide16.xml" Type="http://schemas.openxmlformats.org/officeDocument/2006/relationships/notesSlide"/><Relationship Id="rId56" Target="notesSlides/notesSlide17.xml" Type="http://schemas.openxmlformats.org/officeDocument/2006/relationships/notesSlide"/><Relationship Id="rId57" Target="notesSlides/notesSlide18.xml" Type="http://schemas.openxmlformats.org/officeDocument/2006/relationships/notesSlide"/><Relationship Id="rId58" Target="notesSlides/notesSlide19.xml" Type="http://schemas.openxmlformats.org/officeDocument/2006/relationships/notesSlide"/><Relationship Id="rId59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1.xml" Type="http://schemas.openxmlformats.org/officeDocument/2006/relationships/notesSlide"/><Relationship Id="rId61" Target="notesSlides/notesSlide22.xml" Type="http://schemas.openxmlformats.org/officeDocument/2006/relationships/notesSlide"/><Relationship Id="rId62" Target="notesSlides/notesSlide23.xml" Type="http://schemas.openxmlformats.org/officeDocument/2006/relationships/notesSlide"/><Relationship Id="rId63" Target="notesSlides/notesSlide24.xml" Type="http://schemas.openxmlformats.org/officeDocument/2006/relationships/notesSlide"/><Relationship Id="rId64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FA--------------------MA / FA / DA</a:t>
            </a:r>
          </a:p>
          <a:p>
            <a:r>
              <a:rPr lang="en-US"/>
              <a:t/>
            </a:r>
          </a:p>
          <a:p>
            <a:r>
              <a:rPr lang="en-US"/>
              <a:t>Lic Gest Sist Aut y Rob</a:t>
            </a:r>
          </a:p>
          <a:p>
            <a:r>
              <a:rPr lang="en-US"/>
              <a:t/>
            </a:r>
          </a:p>
          <a:p>
            <a:r>
              <a:rPr lang="en-US"/>
              <a:t>Uni Nac LOMAS ZAMORA</a:t>
            </a:r>
          </a:p>
          <a:p>
            <a:r>
              <a:rPr lang="en-US"/>
              <a:t/>
            </a:r>
          </a:p>
          <a:p>
            <a:r>
              <a:rPr lang="en-US"/>
              <a:t>Agradecimiento familias, profes, univ publica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 / FA / DA--------------------MA</a:t>
            </a:r>
          </a:p>
          <a:p>
            <a:r>
              <a:rPr lang="en-US"/>
              <a:t/>
            </a:r>
          </a:p>
          <a:p>
            <a:r>
              <a:rPr lang="en-US"/>
              <a:t>Presentacion</a:t>
            </a:r>
          </a:p>
          <a:p>
            <a:r>
              <a:rPr lang="en-US"/>
              <a:t/>
            </a:r>
          </a:p>
          <a:p>
            <a:r>
              <a:rPr lang="en-US"/>
              <a:t>Tema: Seguridad Funcional en la Automatización de Paletizado</a:t>
            </a:r>
          </a:p>
          <a:p>
            <a:r>
              <a:rPr lang="en-US"/>
              <a:t/>
            </a:r>
          </a:p>
          <a:p>
            <a:r>
              <a:rPr lang="en-US"/>
              <a:t>Presentación personal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MA--------------------FA</a:t>
            </a:r>
          </a:p>
          <a:p>
            <a:r>
              <a:rPr lang="en-US"/>
              <a:t/>
            </a:r>
          </a:p>
          <a:p>
            <a:r>
              <a:rPr lang="en-US"/>
              <a:t>Problema a resolver</a:t>
            </a:r>
          </a:p>
          <a:p>
            <a:r>
              <a:rPr lang="en-US"/>
              <a:t/>
            </a:r>
          </a:p>
          <a:p>
            <a:r>
              <a:rPr lang="en-US"/>
              <a:t>+ product  pero  + riesgos +graves</a:t>
            </a:r>
          </a:p>
          <a:p>
            <a:r>
              <a:rPr lang="en-US"/>
              <a:t/>
            </a:r>
          </a:p>
          <a:p>
            <a:r>
              <a:rPr lang="en-US"/>
              <a:t>poca seguridad prioridad inversion product</a:t>
            </a:r>
          </a:p>
          <a:p>
            <a:r>
              <a:rPr lang="en-US"/>
              <a:t/>
            </a:r>
          </a:p>
          <a:p>
            <a:r>
              <a:rPr lang="en-US"/>
              <a:t>+accidentes +costos -bienestar humano -reputación de empresa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FA--------------------MA</a:t>
            </a:r>
          </a:p>
          <a:p>
            <a:r>
              <a:rPr lang="en-US"/>
              <a:t/>
            </a:r>
          </a:p>
          <a:p>
            <a:r>
              <a:rPr lang="en-US"/>
              <a:t>Que buscamos?</a:t>
            </a:r>
          </a:p>
          <a:p>
            <a:r>
              <a:rPr lang="en-US"/>
              <a:t/>
            </a:r>
          </a:p>
          <a:p>
            <a:r>
              <a:rPr lang="en-US"/>
              <a:t>Inversion safety </a:t>
            </a:r>
          </a:p>
          <a:p>
            <a:r>
              <a:rPr lang="en-US"/>
              <a:t>NO ES gasto</a:t>
            </a:r>
          </a:p>
          <a:p>
            <a:r>
              <a:rPr lang="en-US"/>
              <a:t>ES decisión estrategica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MA--------------------DA</a:t>
            </a:r>
          </a:p>
          <a:p>
            <a:r>
              <a:rPr lang="en-US"/>
              <a:t/>
            </a:r>
          </a:p>
          <a:p>
            <a:r>
              <a:rPr lang="en-US"/>
              <a:t>Nos basamos en....</a:t>
            </a:r>
          </a:p>
          <a:p>
            <a:r>
              <a:rPr lang="en-US"/>
              <a:t/>
            </a:r>
          </a:p>
          <a:p>
            <a:r>
              <a:rPr lang="en-US"/>
              <a:t>Analisis de normativa internacional</a:t>
            </a:r>
          </a:p>
          <a:p>
            <a:r>
              <a:rPr lang="en-US"/>
              <a:t/>
            </a:r>
          </a:p>
          <a:p>
            <a:r>
              <a:rPr lang="en-US"/>
              <a:t>bibliografía tecnica</a:t>
            </a:r>
          </a:p>
          <a:p>
            <a:r>
              <a:rPr lang="en-US"/>
              <a:t/>
            </a:r>
          </a:p>
          <a:p>
            <a:r>
              <a:rPr lang="en-US"/>
              <a:t>Estadísticas nac e inter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DA--------------------FA</a:t>
            </a:r>
          </a:p>
          <a:p>
            <a:r>
              <a:rPr lang="en-US"/>
              <a:t/>
            </a:r>
          </a:p>
          <a:p>
            <a:r>
              <a:rPr lang="en-US"/>
              <a:t>Historia</a:t>
            </a:r>
          </a:p>
          <a:p>
            <a:r>
              <a:rPr lang="en-US"/>
              <a:t/>
            </a:r>
          </a:p>
          <a:p>
            <a:r>
              <a:rPr lang="en-US"/>
              <a:t>manual </a:t>
            </a:r>
          </a:p>
          <a:p>
            <a:r>
              <a:rPr lang="en-US"/>
              <a:t>total dependencia operador</a:t>
            </a:r>
          </a:p>
          <a:p>
            <a:r>
              <a:rPr lang="en-US"/>
              <a:t>SIN riesgos con automatismo</a:t>
            </a:r>
          </a:p>
          <a:p>
            <a:r>
              <a:rPr lang="en-US"/>
              <a:t>++ riesgos fisicos</a:t>
            </a:r>
          </a:p>
          <a:p>
            <a:r>
              <a:rPr lang="en-US"/>
              <a:t/>
            </a:r>
          </a:p>
          <a:p>
            <a:r>
              <a:rPr lang="en-US"/>
              <a:t>semi auto</a:t>
            </a:r>
          </a:p>
          <a:p>
            <a:r>
              <a:rPr lang="en-US"/>
              <a:t>- dependencia operador</a:t>
            </a:r>
          </a:p>
          <a:p>
            <a:r>
              <a:rPr lang="en-US"/>
              <a:t>+ riesgos con automatismo</a:t>
            </a:r>
          </a:p>
          <a:p>
            <a:r>
              <a:rPr lang="en-US"/>
              <a:t>- riesgos fisico</a:t>
            </a:r>
          </a:p>
          <a:p>
            <a:r>
              <a:rPr lang="en-US"/>
              <a:t/>
            </a:r>
          </a:p>
          <a:p>
            <a:r>
              <a:rPr lang="en-US"/>
              <a:t>autom 100%</a:t>
            </a:r>
          </a:p>
          <a:p>
            <a:r>
              <a:rPr lang="en-US"/>
              <a:t>sin dependencia operador</a:t>
            </a:r>
          </a:p>
          <a:p>
            <a:r>
              <a:rPr lang="en-US"/>
              <a:t>++riesgo autom</a:t>
            </a:r>
          </a:p>
          <a:p>
            <a:r>
              <a:rPr lang="en-US"/>
              <a:t>sin riesgo fisico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FA--------------------FA</a:t>
            </a:r>
          </a:p>
          <a:p>
            <a:r>
              <a:rPr lang="en-US"/>
              <a:t/>
            </a:r>
          </a:p>
          <a:p>
            <a:r>
              <a:rPr lang="en-US"/>
              <a:t>video de sit real</a:t>
            </a:r>
          </a:p>
          <a:p>
            <a:r>
              <a:rPr lang="en-US"/>
              <a:t/>
            </a:r>
          </a:p>
          <a:p>
            <a:r>
              <a:rPr lang="en-US"/>
              <a:t>consulta advertencia para personas impresionables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FA--------------------MA</a:t>
            </a:r>
          </a:p>
          <a:p>
            <a:r>
              <a:rPr lang="en-US"/>
              <a:t/>
            </a:r>
          </a:p>
          <a:p>
            <a:r>
              <a:rPr lang="en-US"/>
              <a:t>Arranque inesperado</a:t>
            </a:r>
          </a:p>
          <a:p>
            <a:r>
              <a:rPr lang="en-US"/>
              <a:t/>
            </a:r>
          </a:p>
          <a:p>
            <a:r>
              <a:rPr lang="en-US"/>
              <a:t>Confusión, actos impulsivos</a:t>
            </a:r>
          </a:p>
          <a:p>
            <a:r>
              <a:rPr lang="en-US"/>
              <a:t/>
            </a:r>
          </a:p>
          <a:p>
            <a:r>
              <a:rPr lang="en-US"/>
              <a:t>+instinto  - razón</a:t>
            </a:r>
          </a:p>
          <a:p>
            <a:r>
              <a:rPr lang="en-US"/>
              <a:t/>
            </a:r>
          </a:p>
          <a:p>
            <a:r>
              <a:rPr lang="en-US"/>
              <a:t>nadie se pone en peligro adrede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MA--------------------DA / MA</a:t>
            </a:r>
          </a:p>
          <a:p>
            <a:r>
              <a:rPr lang="en-US"/>
              <a:t/>
            </a:r>
          </a:p>
          <a:p>
            <a:r>
              <a:rPr lang="en-US"/>
              <a:t>Impacto de los accidentes </a:t>
            </a:r>
          </a:p>
          <a:p>
            <a:r>
              <a:rPr lang="en-US"/>
              <a:t/>
            </a:r>
          </a:p>
          <a:p>
            <a:r>
              <a:rPr lang="en-US"/>
              <a:t>Humanos: lesiones, moral del equipo</a:t>
            </a:r>
          </a:p>
          <a:p>
            <a:r>
              <a:rPr lang="en-US"/>
              <a:t/>
            </a:r>
          </a:p>
          <a:p>
            <a:r>
              <a:rPr lang="en-US"/>
              <a:t>Economicos: multas, indemnizaciones, seguros siniestralidad</a:t>
            </a:r>
          </a:p>
          <a:p>
            <a:r>
              <a:rPr lang="en-US"/>
              <a:t/>
            </a:r>
          </a:p>
          <a:p>
            <a:r>
              <a:rPr lang="en-US"/>
              <a:t>Operacionales: -productividad, - calidad, - clientes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 / MA--------------------FA</a:t>
            </a:r>
          </a:p>
          <a:p>
            <a:r>
              <a:rPr lang="en-US"/>
              <a:t/>
            </a:r>
          </a:p>
          <a:p>
            <a:r>
              <a:rPr lang="en-US"/>
              <a:t>NUMEROS...</a:t>
            </a:r>
          </a:p>
          <a:p>
            <a:r>
              <a:rPr lang="en-US"/>
              <a:t/>
            </a:r>
          </a:p>
          <a:p>
            <a:r>
              <a:rPr lang="en-US"/>
              <a:t>(Occupational Safety and Health Administration) </a:t>
            </a:r>
          </a:p>
          <a:p>
            <a:r>
              <a:rPr lang="en-US"/>
              <a:t>Administracion de seguridad y salud en el trabajo (EEUU)</a:t>
            </a:r>
          </a:p>
          <a:p>
            <a:r>
              <a:rPr lang="en-US"/>
              <a:t/>
            </a:r>
          </a:p>
          <a:p>
            <a:r>
              <a:rPr lang="en-US"/>
              <a:t>EEUU  77 acci con robots, 41 muertes (1992–2022)</a:t>
            </a:r>
          </a:p>
          <a:p>
            <a:r>
              <a:rPr lang="en-US"/>
              <a:t/>
            </a:r>
          </a:p>
          <a:p>
            <a:r>
              <a:rPr lang="en-US"/>
              <a:t>UE: 2,97 mill no fatales y 3.286 fatales (0,1 %) en 2022.</a:t>
            </a:r>
          </a:p>
          <a:p>
            <a:r>
              <a:rPr lang="en-US"/>
              <a:t/>
            </a:r>
          </a:p>
          <a:p>
            <a:r>
              <a:rPr lang="en-US"/>
              <a:t>Brasil : 6,7 mill acci lab, 25.500 muertes; 15 % vinculadas al uso de maquinaria (2012–2022)</a:t>
            </a:r>
          </a:p>
          <a:p>
            <a:r>
              <a:rPr lang="en-US"/>
              <a:t/>
            </a:r>
          </a:p>
          <a:p>
            <a:r>
              <a:rPr lang="en-US"/>
              <a:t>ARG 600.000 accidentes laborales anuales  (+- 700 fatales).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FA--------------------MA</a:t>
            </a:r>
          </a:p>
          <a:p>
            <a:r>
              <a:rPr lang="en-US"/>
              <a:t/>
            </a:r>
          </a:p>
          <a:p>
            <a:r>
              <a:rPr lang="en-US"/>
              <a:t>Problemática</a:t>
            </a:r>
          </a:p>
          <a:p>
            <a:r>
              <a:rPr lang="en-US"/>
              <a:t/>
            </a:r>
          </a:p>
          <a:p>
            <a:r>
              <a:rPr lang="en-US"/>
              <a:t>percepción de </a:t>
            </a:r>
          </a:p>
          <a:p>
            <a:r>
              <a:rPr lang="en-US"/>
              <a:t>Inversion safety = gasto, costo adicional</a:t>
            </a:r>
          </a:p>
          <a:p>
            <a:r>
              <a:rPr lang="en-US"/>
              <a:t>ES decisión estrategica ya que reduce tasa de accidentes y costos varios, $ y tiempo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MA--------------------MA / DA</a:t>
            </a:r>
          </a:p>
          <a:p>
            <a:r>
              <a:rPr lang="en-US"/>
              <a:t/>
            </a:r>
          </a:p>
          <a:p>
            <a:r>
              <a:rPr lang="en-US"/>
              <a:t>Celda sin "seguridades"</a:t>
            </a:r>
          </a:p>
          <a:p>
            <a:r>
              <a:rPr lang="en-US"/>
              <a:t/>
            </a:r>
          </a:p>
          <a:p>
            <a:r>
              <a:rPr lang="en-US"/>
              <a:t>MENCIONAR EL FUNCIONAMIENTO DE LA CELDA (breve)</a:t>
            </a:r>
          </a:p>
          <a:p>
            <a:r>
              <a:rPr lang="en-US"/>
              <a:t/>
            </a:r>
          </a:p>
          <a:p>
            <a:r>
              <a:rPr lang="en-US"/>
              <a:t>LA CELDA PUEDE TENER:</a:t>
            </a:r>
          </a:p>
          <a:p>
            <a:r>
              <a:rPr lang="en-US"/>
              <a:t>Movimientos predecibles e impredecibles</a:t>
            </a:r>
          </a:p>
          <a:p>
            <a:r>
              <a:rPr lang="en-US"/>
              <a:t/>
            </a:r>
          </a:p>
          <a:p>
            <a:r>
              <a:rPr lang="en-US"/>
              <a:t>Arranque inesperado</a:t>
            </a:r>
          </a:p>
          <a:p>
            <a:r>
              <a:rPr lang="en-US"/>
              <a:t/>
            </a:r>
          </a:p>
          <a:p>
            <a:r>
              <a:rPr lang="en-US"/>
              <a:t>La seguridad depende de las aptitudes del operador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DA--------------------FA</a:t>
            </a:r>
          </a:p>
          <a:p>
            <a:r>
              <a:rPr lang="en-US"/>
              <a:t/>
            </a:r>
          </a:p>
          <a:p>
            <a:r>
              <a:rPr lang="en-US"/>
              <a:t>existen gran variedad de dispositivos</a:t>
            </a:r>
          </a:p>
          <a:p>
            <a:r>
              <a:rPr lang="en-US"/>
              <a:t/>
            </a:r>
          </a:p>
          <a:p>
            <a:r>
              <a:rPr lang="en-US"/>
              <a:t>Detección</a:t>
            </a:r>
          </a:p>
          <a:p>
            <a:r>
              <a:rPr lang="en-US"/>
              <a:t>Control</a:t>
            </a:r>
          </a:p>
          <a:p>
            <a:r>
              <a:rPr lang="en-US"/>
              <a:t>Maniobra</a:t>
            </a:r>
          </a:p>
          <a:p>
            <a:r>
              <a:rPr lang="en-US"/>
              <a:t/>
            </a:r>
          </a:p>
          <a:p>
            <a:r>
              <a:rPr lang="en-US"/>
              <a:t>opticos</a:t>
            </a:r>
          </a:p>
          <a:p>
            <a:r>
              <a:rPr lang="en-US"/>
              <a:t>radar</a:t>
            </a:r>
          </a:p>
          <a:p>
            <a:r>
              <a:rPr lang="en-US"/>
              <a:t>mecanicos</a:t>
            </a:r>
          </a:p>
          <a:p>
            <a:r>
              <a:rPr lang="en-US"/>
              <a:t>megneticos codificados</a:t>
            </a:r>
          </a:p>
          <a:p>
            <a:r>
              <a:rPr lang="en-US"/>
              <a:t>RFID. etc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FA--------------------FA</a:t>
            </a:r>
          </a:p>
          <a:p>
            <a:r>
              <a:rPr lang="en-US"/>
              <a:t/>
            </a:r>
          </a:p>
          <a:p>
            <a:r>
              <a:rPr lang="en-US"/>
              <a:t>Metodologia</a:t>
            </a:r>
          </a:p>
          <a:p>
            <a:r>
              <a:rPr lang="en-US"/>
              <a:t/>
            </a:r>
          </a:p>
          <a:p>
            <a:r>
              <a:rPr lang="en-US"/>
              <a:t>Identificación de peligros</a:t>
            </a:r>
          </a:p>
          <a:p>
            <a:r>
              <a:rPr lang="en-US"/>
              <a:t/>
            </a:r>
          </a:p>
          <a:p>
            <a:r>
              <a:rPr lang="en-US"/>
              <a:t>Valoracion RIESGO</a:t>
            </a:r>
          </a:p>
          <a:p>
            <a:r>
              <a:rPr lang="en-US"/>
              <a:t/>
            </a:r>
          </a:p>
          <a:p>
            <a:r>
              <a:rPr lang="en-US"/>
              <a:t>SEVERIDAD - FRECUENCIA/PROBABILIDAD</a:t>
            </a:r>
          </a:p>
          <a:p>
            <a:r>
              <a:rPr lang="en-US"/>
              <a:t/>
            </a:r>
          </a:p>
          <a:p>
            <a:r>
              <a:rPr lang="en-US"/>
              <a:t>Nivel de CONFIABILIDAD</a:t>
            </a:r>
          </a:p>
          <a:p>
            <a:r>
              <a:rPr lang="en-US"/>
              <a:t/>
            </a:r>
          </a:p>
          <a:p>
            <a:r>
              <a:rPr lang="en-US"/>
              <a:t>componentes</a:t>
            </a:r>
          </a:p>
          <a:p>
            <a:r>
              <a:rPr lang="en-US"/>
              <a:t>Deteccion - Control - Maniobra</a:t>
            </a:r>
          </a:p>
          <a:p>
            <a:r>
              <a:rPr lang="en-US"/>
              <a:t/>
            </a:r>
          </a:p>
          <a:p>
            <a:r>
              <a:rPr lang="en-US"/>
              <a:t>elección norma, proceso y entorno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FA--------------------MA</a:t>
            </a:r>
          </a:p>
          <a:p>
            <a:r>
              <a:rPr lang="en-US"/>
              <a:t/>
            </a:r>
          </a:p>
          <a:p>
            <a:r>
              <a:rPr lang="en-US"/>
              <a:t>Celda con seguridades</a:t>
            </a:r>
          </a:p>
          <a:p>
            <a:r>
              <a:rPr lang="en-US"/>
              <a:t/>
            </a:r>
          </a:p>
          <a:p>
            <a:r>
              <a:rPr lang="en-US"/>
              <a:t>La seguridad NO dependen de las aptitudes del operado</a:t>
            </a:r>
          </a:p>
          <a:p>
            <a:r>
              <a:rPr lang="en-US"/>
              <a:t/>
            </a:r>
          </a:p>
          <a:p>
            <a:r>
              <a:rPr lang="en-US"/>
              <a:t>NO es posible ingresar a la celda con el sistema en funcionamiento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MA--------------------FA</a:t>
            </a:r>
          </a:p>
          <a:p>
            <a:r>
              <a:rPr lang="en-US"/>
              <a:t/>
            </a:r>
          </a:p>
          <a:p>
            <a:r>
              <a:rPr lang="en-US"/>
              <a:t>CFE con muteo diferencia entre prod y lo demas</a:t>
            </a:r>
          </a:p>
          <a:p>
            <a:r>
              <a:rPr lang="en-US"/>
              <a:t/>
            </a:r>
          </a:p>
          <a:p>
            <a:r>
              <a:rPr lang="en-US"/>
              <a:t>SW de puerta monitores apertura</a:t>
            </a:r>
          </a:p>
          <a:p>
            <a:r>
              <a:rPr lang="en-US"/>
              <a:t/>
            </a:r>
          </a:p>
          <a:p>
            <a:r>
              <a:rPr lang="en-US"/>
              <a:t>RADAR monitorea presencia en  interiotr de la celda</a:t>
            </a:r>
          </a:p>
          <a:p>
            <a:r>
              <a:rPr lang="en-US"/>
              <a:t/>
            </a:r>
          </a:p>
          <a:p>
            <a:r>
              <a:rPr lang="en-US"/>
              <a:t>PE Detiene movimientos, siempre accion correctiva NO preventiva</a:t>
            </a:r>
          </a:p>
          <a:p>
            <a:r>
              <a:rPr lang="en-US"/>
              <a:t/>
            </a:r>
          </a:p>
          <a:p>
            <a:r>
              <a:rPr lang="en-US"/>
              <a:t>PSC gestión de señales y cortes</a:t>
            </a:r>
          </a:p>
          <a:p>
            <a:r>
              <a:rPr lang="en-US"/>
              <a:t/>
            </a:r>
          </a:p>
          <a:p>
            <a:r>
              <a:rPr lang="en-US"/>
              <a:t>MANIOBRA detiene movimientos, interrumpe señales de PLC operativo</a:t>
            </a:r>
          </a:p>
          <a:p>
            <a:r>
              <a:rPr lang="en-US"/>
              <a:t/>
            </a:r>
          </a:p>
          <a:p>
            <a:r>
              <a:rPr lang="en-US"/>
              <a:t>BALIZA muestra estados de seguridad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FA--------------------DA</a:t>
            </a:r>
          </a:p>
          <a:p>
            <a:r>
              <a:rPr lang="en-US"/>
              <a:t/>
            </a:r>
          </a:p>
          <a:p>
            <a:r>
              <a:rPr lang="en-US"/>
              <a:t>Esquema de control</a:t>
            </a:r>
          </a:p>
          <a:p>
            <a:r>
              <a:rPr lang="en-US"/>
              <a:t/>
            </a:r>
          </a:p>
          <a:p>
            <a:r>
              <a:rPr lang="en-US"/>
              <a:t>Ponderación Riesgo</a:t>
            </a:r>
          </a:p>
          <a:p>
            <a:r>
              <a:rPr lang="en-US"/>
              <a:t/>
            </a:r>
          </a:p>
          <a:p>
            <a:r>
              <a:rPr lang="en-US"/>
              <a:t>Pl equivalente</a:t>
            </a:r>
          </a:p>
          <a:p>
            <a:r>
              <a:rPr lang="en-US"/>
              <a:t/>
            </a:r>
          </a:p>
          <a:p>
            <a:r>
              <a:rPr lang="en-US"/>
              <a:t>Cat Arquitectura</a:t>
            </a:r>
          </a:p>
          <a:p>
            <a:r>
              <a:rPr lang="en-US"/>
              <a:t/>
            </a:r>
          </a:p>
          <a:p>
            <a:r>
              <a:rPr lang="en-US"/>
              <a:t>Doble canal, Componentes de seguridad de probada confiabilidad, Diagnostico de falla.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DA--------------------DA</a:t>
            </a:r>
          </a:p>
          <a:p>
            <a:r>
              <a:rPr lang="en-US"/>
              <a:t/>
            </a:r>
          </a:p>
          <a:p>
            <a:r>
              <a:rPr lang="en-US"/>
              <a:t>Program PLC</a:t>
            </a:r>
          </a:p>
          <a:p>
            <a:r>
              <a:rPr lang="en-US"/>
              <a:t/>
            </a:r>
          </a:p>
          <a:p>
            <a:r>
              <a:rPr lang="en-US"/>
              <a:t>Programación por bloque evita el factor humano, configurables dentro de la estructura validada.</a:t>
            </a:r>
          </a:p>
          <a:p>
            <a:r>
              <a:rPr lang="en-US"/>
              <a:t/>
            </a:r>
          </a:p>
          <a:p>
            <a:r>
              <a:rPr lang="en-US"/>
              <a:t>Entrega reporte de funcionamiento que puede ser auditado y validado.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DA--------------------MA</a:t>
            </a:r>
          </a:p>
          <a:p>
            <a:r>
              <a:rPr lang="en-US"/>
              <a:t/>
            </a:r>
          </a:p>
          <a:p>
            <a:r>
              <a:rPr lang="en-US"/>
              <a:t>Esquema operativo</a:t>
            </a:r>
          </a:p>
          <a:p>
            <a:r>
              <a:rPr lang="en-US"/>
              <a:t> integración de sistema de seguridad  con un sistema de automatización estándar </a:t>
            </a:r>
          </a:p>
          <a:p>
            <a:r>
              <a:rPr lang="en-US"/>
              <a:t/>
            </a:r>
          </a:p>
          <a:p>
            <a:r>
              <a:rPr lang="en-US"/>
              <a:t>Interacción aguas abajo de control  de accionamiento evita arranque inesperados</a:t>
            </a:r>
          </a:p>
          <a:p>
            <a:r>
              <a:rPr lang="en-US"/>
              <a:t/>
            </a:r>
          </a:p>
          <a:p>
            <a:r>
              <a:rPr lang="en-US"/>
              <a:t>interrumpe las señales operativas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MA--------------------FA</a:t>
            </a:r>
          </a:p>
          <a:p>
            <a:r>
              <a:rPr lang="en-US"/>
              <a:t/>
            </a:r>
          </a:p>
          <a:p>
            <a:r>
              <a:rPr lang="en-US"/>
              <a:t>Beneficios eco</a:t>
            </a:r>
          </a:p>
          <a:p>
            <a:r>
              <a:rPr lang="en-US"/>
              <a:t/>
            </a:r>
          </a:p>
          <a:p>
            <a:r>
              <a:rPr lang="en-US"/>
              <a:t>en este ejemplo </a:t>
            </a:r>
          </a:p>
          <a:p>
            <a:r>
              <a:rPr lang="en-US"/>
              <a:t>u$s</a:t>
            </a:r>
          </a:p>
          <a:p>
            <a:r>
              <a:rPr lang="en-US"/>
              <a:t>Hard+ing+cap = 18 - 30k</a:t>
            </a:r>
          </a:p>
          <a:p>
            <a:r>
              <a:rPr lang="en-US"/>
              <a:t/>
            </a:r>
          </a:p>
          <a:p>
            <a:r>
              <a:rPr lang="en-US"/>
              <a:t>ROI   30k&lt;&lt;&lt;200k accidente grave</a:t>
            </a:r>
          </a:p>
          <a:p>
            <a:r>
              <a:rPr lang="en-US"/>
              <a:t/>
            </a:r>
          </a:p>
          <a:p>
            <a:r>
              <a:rPr lang="en-US"/>
              <a:t>Ademas de Benef</a:t>
            </a:r>
          </a:p>
          <a:p>
            <a:r>
              <a:rPr lang="en-US"/>
              <a:t>Costos dir e indir</a:t>
            </a:r>
          </a:p>
          <a:p>
            <a:r>
              <a:rPr lang="en-US"/>
              <a:t>Atracc talentos</a:t>
            </a:r>
          </a:p>
          <a:p>
            <a:r>
              <a:rPr lang="en-US"/>
              <a:t>Valor marca - rel clientes</a:t>
            </a:r>
          </a:p>
          <a:p>
            <a:r>
              <a:rPr lang="en-US"/>
              <a:t>Cumpl normativo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FA----------------FA</a:t>
            </a:r>
          </a:p>
          <a:p>
            <a:r>
              <a:rPr lang="en-US"/>
              <a:t/>
            </a:r>
          </a:p>
          <a:p>
            <a:r>
              <a:rPr lang="en-US"/>
              <a:t>Conclusiones</a:t>
            </a:r>
          </a:p>
          <a:p>
            <a:r>
              <a:rPr lang="en-US"/>
              <a:t/>
            </a:r>
          </a:p>
          <a:p>
            <a:r>
              <a:rPr lang="en-US"/>
              <a:t>reduce eficazmente los riesgos en operaciones automatizadas.</a:t>
            </a:r>
          </a:p>
          <a:p>
            <a:r>
              <a:rPr lang="en-US"/>
              <a:t/>
            </a:r>
          </a:p>
          <a:p>
            <a:r>
              <a:rPr lang="en-US"/>
              <a:t>se confirma como:</a:t>
            </a:r>
          </a:p>
          <a:p>
            <a:r>
              <a:rPr lang="en-US"/>
              <a:t>inversión estratégica que</a:t>
            </a:r>
          </a:p>
          <a:p>
            <a:r>
              <a:rPr lang="en-US"/>
              <a:t>evita costos, </a:t>
            </a:r>
          </a:p>
          <a:p>
            <a:r>
              <a:rPr lang="en-US"/>
              <a:t>mejora la productividad,</a:t>
            </a:r>
          </a:p>
          <a:p>
            <a:r>
              <a:rPr lang="en-US"/>
              <a:t>proporciona previsibilidad </a:t>
            </a:r>
          </a:p>
          <a:p>
            <a:r>
              <a:rPr lang="en-US"/>
              <a:t>fortalece la imagen corporativa.</a:t>
            </a:r>
          </a:p>
          <a:p>
            <a:r>
              <a:rPr lang="en-US"/>
              <a:t/>
            </a:r>
          </a:p>
          <a:p>
            <a:r>
              <a:rPr lang="en-US"/>
              <a:t>protege personas, continuidad operativa y empresa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FA--------------------FA</a:t>
            </a:r>
          </a:p>
          <a:p>
            <a:r>
              <a:rPr lang="en-US"/>
              <a:t/>
            </a:r>
          </a:p>
          <a:p>
            <a:r>
              <a:rPr lang="en-US"/>
              <a:t>Muchas Gracias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</a:t>
            </a:r>
          </a:p>
          <a:p>
            <a:r>
              <a:rPr lang="en-US"/>
              <a:t/>
            </a:r>
          </a:p>
          <a:p>
            <a:r>
              <a:rPr lang="en-US"/>
              <a:t>Preguntas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FAUSTO</a:t>
            </a:r>
          </a:p>
          <a:p>
            <a:r>
              <a:rPr lang="en-US"/>
              <a:t/>
            </a:r>
          </a:p>
          <a:p>
            <a:r>
              <a:rPr lang="en-US"/>
              <a:t>Preguntas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FAUSTO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7.jpeg" Type="http://schemas.openxmlformats.org/officeDocument/2006/relationships/image"/><Relationship Id="rId4" Target="../media/VAG5FihMnBU.mp4" Type="http://schemas.openxmlformats.org/officeDocument/2006/relationships/video"/><Relationship Id="rId5" Target="../media/VAG5FihMnBU.mp4" Type="http://schemas.microsoft.com/office/2007/relationships/media"/><Relationship Id="rId6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9.jpeg" Type="http://schemas.openxmlformats.org/officeDocument/2006/relationships/image"/><Relationship Id="rId4" Target="../media/VAG3E3-tU7Y.mp4" Type="http://schemas.openxmlformats.org/officeDocument/2006/relationships/video"/><Relationship Id="rId5" Target="../media/VAG3E3-tU7Y.mp4" Type="http://schemas.microsoft.com/office/2007/relationships/media"/><Relationship Id="rId6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16" Target="../media/image30.pn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2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35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2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41.png" Type="http://schemas.openxmlformats.org/officeDocument/2006/relationships/image"/><Relationship Id="rId4" Target="../media/image2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50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pn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54.png" Type="http://schemas.openxmlformats.org/officeDocument/2006/relationships/image"/><Relationship Id="rId4" Target="../media/image5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2.png" Type="http://schemas.openxmlformats.org/officeDocument/2006/relationships/image"/><Relationship Id="rId4" Target="../media/image56.pn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54.png" Type="http://schemas.openxmlformats.org/officeDocument/2006/relationships/image"/><Relationship Id="rId4" Target="../media/image5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1286"/>
            <a:ext cx="3484348" cy="3484348"/>
          </a:xfrm>
          <a:custGeom>
            <a:avLst/>
            <a:gdLst/>
            <a:ahLst/>
            <a:cxnLst/>
            <a:rect r="r" b="b" t="t" l="l"/>
            <a:pathLst>
              <a:path h="3484348" w="3484348">
                <a:moveTo>
                  <a:pt x="0" y="0"/>
                </a:moveTo>
                <a:lnTo>
                  <a:pt x="3484348" y="0"/>
                </a:lnTo>
                <a:lnTo>
                  <a:pt x="3484348" y="3484348"/>
                </a:lnTo>
                <a:lnTo>
                  <a:pt x="0" y="3484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93005" y="0"/>
            <a:ext cx="2779422" cy="2843260"/>
          </a:xfrm>
          <a:custGeom>
            <a:avLst/>
            <a:gdLst/>
            <a:ahLst/>
            <a:cxnLst/>
            <a:rect r="r" b="b" t="t" l="l"/>
            <a:pathLst>
              <a:path h="2843260" w="2779422">
                <a:moveTo>
                  <a:pt x="0" y="0"/>
                </a:moveTo>
                <a:lnTo>
                  <a:pt x="2779422" y="0"/>
                </a:lnTo>
                <a:lnTo>
                  <a:pt x="2779422" y="2843260"/>
                </a:lnTo>
                <a:lnTo>
                  <a:pt x="0" y="2843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6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29874" y="2468140"/>
            <a:ext cx="11428252" cy="163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2"/>
              </a:lnSpc>
            </a:pPr>
            <a:r>
              <a:rPr lang="en-US" sz="11456" spc="-297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Defensa de tesis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0862" y="8331243"/>
            <a:ext cx="4923679" cy="223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 u="none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Autores: Coletti Fausto</a:t>
            </a:r>
          </a:p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 u="none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              Perez Daniel</a:t>
            </a:r>
          </a:p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 u="none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              Vedia Mauro</a:t>
            </a:r>
          </a:p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844216" y="8331243"/>
            <a:ext cx="5339277" cy="60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Tutor: Bugallo Mario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05284" y="5038725"/>
            <a:ext cx="14477433" cy="182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Vollkorn Bold"/>
                <a:ea typeface="Vollkorn Bold"/>
                <a:cs typeface="Vollkorn Bold"/>
                <a:sym typeface="Vollkorn Bold"/>
              </a:rPr>
              <a:t>Licenciatura en Gestión de Sistemas de Automatización y Robótica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74361" y="8331243"/>
            <a:ext cx="5339277" cy="60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02/12/25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34099" y="3633599"/>
            <a:ext cx="3019802" cy="3019802"/>
          </a:xfrm>
          <a:custGeom>
            <a:avLst/>
            <a:gdLst/>
            <a:ahLst/>
            <a:cxnLst/>
            <a:rect r="r" b="b" t="t" l="l"/>
            <a:pathLst>
              <a:path h="3019802" w="3019802">
                <a:moveTo>
                  <a:pt x="0" y="0"/>
                </a:moveTo>
                <a:lnTo>
                  <a:pt x="3019802" y="0"/>
                </a:lnTo>
                <a:lnTo>
                  <a:pt x="3019802" y="3019802"/>
                </a:lnTo>
                <a:lnTo>
                  <a:pt x="0" y="3019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43032" y="3633599"/>
            <a:ext cx="3130226" cy="3199711"/>
          </a:xfrm>
          <a:custGeom>
            <a:avLst/>
            <a:gdLst/>
            <a:ahLst/>
            <a:cxnLst/>
            <a:rect r="r" b="b" t="t" l="l"/>
            <a:pathLst>
              <a:path h="3199711" w="3130226">
                <a:moveTo>
                  <a:pt x="0" y="0"/>
                </a:moveTo>
                <a:lnTo>
                  <a:pt x="3130226" y="0"/>
                </a:lnTo>
                <a:lnTo>
                  <a:pt x="3130226" y="3199711"/>
                </a:lnTo>
                <a:lnTo>
                  <a:pt x="0" y="3199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939" r="0" b="-124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71160" y="3633599"/>
            <a:ext cx="2183329" cy="2952692"/>
          </a:xfrm>
          <a:custGeom>
            <a:avLst/>
            <a:gdLst/>
            <a:ahLst/>
            <a:cxnLst/>
            <a:rect r="r" b="b" t="t" l="l"/>
            <a:pathLst>
              <a:path h="2952692" w="2183329">
                <a:moveTo>
                  <a:pt x="0" y="0"/>
                </a:moveTo>
                <a:lnTo>
                  <a:pt x="2183329" y="0"/>
                </a:lnTo>
                <a:lnTo>
                  <a:pt x="2183329" y="2952692"/>
                </a:lnTo>
                <a:lnTo>
                  <a:pt x="0" y="295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7205" y="429586"/>
            <a:ext cx="14273589" cy="166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6000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Seguridad Funcional en la Automatización de Paletizado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09875" y="6820447"/>
            <a:ext cx="5268249" cy="92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93"/>
              </a:lnSpc>
              <a:spcBef>
                <a:spcPct val="0"/>
              </a:spcBef>
            </a:pPr>
            <a:r>
              <a:rPr lang="en-US" sz="4063">
                <a:solidFill>
                  <a:srgbClr val="231F20"/>
                </a:solidFill>
                <a:latin typeface="Rugrats Sans"/>
                <a:ea typeface="Rugrats Sans"/>
                <a:cs typeface="Rugrats Sans"/>
                <a:sym typeface="Rugrats Sans"/>
              </a:rPr>
              <a:t>Fausto D. Coletti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67417" y="6820447"/>
            <a:ext cx="5268249" cy="92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93"/>
              </a:lnSpc>
              <a:spcBef>
                <a:spcPct val="0"/>
              </a:spcBef>
            </a:pPr>
            <a:r>
              <a:rPr lang="en-US" sz="4063">
                <a:solidFill>
                  <a:srgbClr val="231F20"/>
                </a:solidFill>
                <a:latin typeface="Rugrats Sans"/>
                <a:ea typeface="Rugrats Sans"/>
                <a:cs typeface="Rugrats Sans"/>
                <a:sym typeface="Rugrats Sans"/>
              </a:rPr>
              <a:t>Daniel Perez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817851"/>
            <a:ext cx="5268249" cy="92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93"/>
              </a:lnSpc>
              <a:spcBef>
                <a:spcPct val="0"/>
              </a:spcBef>
            </a:pPr>
            <a:r>
              <a:rPr lang="en-US" sz="4063">
                <a:solidFill>
                  <a:srgbClr val="231F20"/>
                </a:solidFill>
                <a:latin typeface="Rugrats Sans"/>
                <a:ea typeface="Rugrats Sans"/>
                <a:cs typeface="Rugrats Sans"/>
                <a:sym typeface="Rugrats Sans"/>
              </a:rPr>
              <a:t>Vedia Mauro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6849" y="2531022"/>
            <a:ext cx="7894302" cy="61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4"/>
              </a:lnSpc>
              <a:spcBef>
                <a:spcPct val="0"/>
              </a:spcBef>
            </a:pPr>
            <a:r>
              <a:rPr lang="en-US" sz="4439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Presentación de equipo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40615" y="7800012"/>
            <a:ext cx="4606769" cy="98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3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Rugrats Sans"/>
                <a:ea typeface="Rugrats Sans"/>
                <a:cs typeface="Rugrats Sans"/>
                <a:sym typeface="Rugrats Sans"/>
              </a:rPr>
              <a:t>Tecnico universitario en automatización y control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1626" y="7800012"/>
            <a:ext cx="4720818" cy="98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3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Rugrats Sans"/>
                <a:ea typeface="Rugrats Sans"/>
                <a:cs typeface="Rugrats Sans"/>
                <a:sym typeface="Rugrats Sans"/>
              </a:rPr>
              <a:t>Tecnico universitario en automatización y control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5601" y="7800012"/>
            <a:ext cx="4691883" cy="98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3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Rugrats Sans"/>
                <a:ea typeface="Rugrats Sans"/>
                <a:cs typeface="Rugrats Sans"/>
                <a:sym typeface="Rugrats Sans"/>
              </a:rPr>
              <a:t>Tecnico universitario en automatización y control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33015" y="8840904"/>
            <a:ext cx="1938039" cy="49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3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Rugrats Sans"/>
                <a:ea typeface="Rugrats Sans"/>
                <a:cs typeface="Rugrats Sans"/>
                <a:sym typeface="Rugrats Sans"/>
              </a:rPr>
              <a:t>UNGS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09875" y="9303173"/>
            <a:ext cx="5268249" cy="49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3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Rugrats Sans"/>
                <a:ea typeface="Rugrats Sans"/>
                <a:cs typeface="Rugrats Sans"/>
                <a:sym typeface="Rugrats Sans"/>
              </a:rPr>
              <a:t>F. S. Tech. (TÜV) # 5413 / 25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32523" y="8840904"/>
            <a:ext cx="1938039" cy="49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3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Rugrats Sans"/>
                <a:ea typeface="Rugrats Sans"/>
                <a:cs typeface="Rugrats Sans"/>
                <a:sym typeface="Rugrats Sans"/>
              </a:rPr>
              <a:t>UNGS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74980" y="8840904"/>
            <a:ext cx="1938039" cy="49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3"/>
              </a:lnSpc>
              <a:spcBef>
                <a:spcPct val="0"/>
              </a:spcBef>
            </a:pPr>
            <a:r>
              <a:rPr lang="en-US" sz="2199">
                <a:solidFill>
                  <a:srgbClr val="231F20"/>
                </a:solidFill>
                <a:latin typeface="Rugrats Sans"/>
                <a:ea typeface="Rugrats Sans"/>
                <a:cs typeface="Rugrats Sans"/>
                <a:sym typeface="Rugrats Sans"/>
              </a:rPr>
              <a:t>UNGS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64294" y="-102870"/>
            <a:ext cx="8918943" cy="10483003"/>
            <a:chOff x="0" y="0"/>
            <a:chExt cx="823168" cy="9675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3168" cy="967522"/>
            </a:xfrm>
            <a:custGeom>
              <a:avLst/>
              <a:gdLst/>
              <a:ahLst/>
              <a:cxnLst/>
              <a:rect r="r" b="b" t="t" l="l"/>
              <a:pathLst>
                <a:path h="967522" w="823168">
                  <a:moveTo>
                    <a:pt x="0" y="0"/>
                  </a:moveTo>
                  <a:lnTo>
                    <a:pt x="823168" y="0"/>
                  </a:lnTo>
                  <a:lnTo>
                    <a:pt x="823168" y="967522"/>
                  </a:lnTo>
                  <a:lnTo>
                    <a:pt x="0" y="967522"/>
                  </a:lnTo>
                  <a:close/>
                </a:path>
              </a:pathLst>
            </a:custGeom>
            <a:blipFill>
              <a:blip r:embed="rId3"/>
              <a:stretch>
                <a:fillRect l="-8768" t="0" r="-8768" b="0"/>
              </a:stretch>
            </a:blipFill>
            <a:ln w="28575" cap="sq">
              <a:solidFill>
                <a:srgbClr val="4764AA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588870" y="431169"/>
            <a:ext cx="8555130" cy="1794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14"/>
              </a:lnSpc>
              <a:spcBef>
                <a:spcPct val="0"/>
              </a:spcBef>
            </a:pPr>
            <a:r>
              <a:rPr lang="en-US" b="true" sz="6495">
                <a:solidFill>
                  <a:srgbClr val="231F20"/>
                </a:solidFill>
                <a:latin typeface="Literata Bold"/>
                <a:ea typeface="Literata Bold"/>
                <a:cs typeface="Literata Bold"/>
                <a:sym typeface="Literata Bold"/>
              </a:rPr>
              <a:t>¿Qué problema queremos resolver?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7765" y="2641694"/>
            <a:ext cx="8656235" cy="703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La automatización mejora la productividad, pero también trae nuevos riesgos.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En el paletizado, muchas empresas automatizan sin integrar la seguridad funcional.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Eso genera accidentes, costos y pérdida de confianza que podrían evitarse.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8522394"/>
            <a:ext cx="1724987" cy="1764606"/>
          </a:xfrm>
          <a:custGeom>
            <a:avLst/>
            <a:gdLst/>
            <a:ahLst/>
            <a:cxnLst/>
            <a:rect r="r" b="b" t="t" l="l"/>
            <a:pathLst>
              <a:path h="1764606" w="1724987">
                <a:moveTo>
                  <a:pt x="0" y="0"/>
                </a:moveTo>
                <a:lnTo>
                  <a:pt x="1724987" y="0"/>
                </a:lnTo>
                <a:lnTo>
                  <a:pt x="1724987" y="1764606"/>
                </a:lnTo>
                <a:lnTo>
                  <a:pt x="0" y="1764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6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522394"/>
            <a:ext cx="1724987" cy="1764606"/>
          </a:xfrm>
          <a:custGeom>
            <a:avLst/>
            <a:gdLst/>
            <a:ahLst/>
            <a:cxnLst/>
            <a:rect r="r" b="b" t="t" l="l"/>
            <a:pathLst>
              <a:path h="1764606" w="1724987">
                <a:moveTo>
                  <a:pt x="0" y="0"/>
                </a:moveTo>
                <a:lnTo>
                  <a:pt x="1724987" y="0"/>
                </a:lnTo>
                <a:lnTo>
                  <a:pt x="1724987" y="1764606"/>
                </a:lnTo>
                <a:lnTo>
                  <a:pt x="0" y="1764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9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80928" y="2280343"/>
            <a:ext cx="8288215" cy="6374744"/>
          </a:xfrm>
          <a:custGeom>
            <a:avLst/>
            <a:gdLst/>
            <a:ahLst/>
            <a:cxnLst/>
            <a:rect r="r" b="b" t="t" l="l"/>
            <a:pathLst>
              <a:path h="6374744" w="8288215">
                <a:moveTo>
                  <a:pt x="0" y="0"/>
                </a:moveTo>
                <a:lnTo>
                  <a:pt x="8288216" y="0"/>
                </a:lnTo>
                <a:lnTo>
                  <a:pt x="8288216" y="6374744"/>
                </a:lnTo>
                <a:lnTo>
                  <a:pt x="0" y="6374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60" t="-5625" r="-416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5100" y="2194618"/>
            <a:ext cx="7884792" cy="63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Queremos mostrar que invertir en Seguridad Funcional no es un gasto, sino una decisión estratégica.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Analizamos su impacto en la reducción de riesgos, su viabilidad económica y cómo mejora la imagen de la empresa.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30817" y="553171"/>
            <a:ext cx="11226366" cy="90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20"/>
              </a:lnSpc>
              <a:spcBef>
                <a:spcPct val="0"/>
              </a:spcBef>
            </a:pPr>
            <a:r>
              <a:rPr lang="en-US" sz="6500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¿Qué </a:t>
            </a:r>
            <a:r>
              <a:rPr lang="en-US" sz="6500" strike="noStrike" u="none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buscamos demostrar?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60245" y="6213554"/>
            <a:ext cx="7884792" cy="244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7055" indent="-746764" lvl="3">
              <a:lnSpc>
                <a:spcPts val="6456"/>
              </a:lnSpc>
              <a:buFont typeface="Arial"/>
              <a:buChar char="￭"/>
            </a:pPr>
            <a:r>
              <a:rPr lang="en-US" sz="4611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SEGURIDAD</a:t>
            </a:r>
          </a:p>
          <a:p>
            <a:pPr algn="l" marL="1991370" indent="-663790" lvl="2">
              <a:lnSpc>
                <a:spcPts val="6456"/>
              </a:lnSpc>
              <a:buFont typeface="Arial"/>
              <a:buChar char="⚬"/>
            </a:pPr>
            <a:r>
              <a:rPr lang="en-US" sz="4611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EFICIENCIA</a:t>
            </a:r>
          </a:p>
          <a:p>
            <a:pPr algn="l" marL="995685" indent="-497842" lvl="1">
              <a:lnSpc>
                <a:spcPts val="6456"/>
              </a:lnSpc>
              <a:buFont typeface="Arial"/>
              <a:buChar char="•"/>
            </a:pPr>
            <a:r>
              <a:rPr lang="en-US" sz="4611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REPUTACION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35191" y="9369653"/>
            <a:ext cx="5339056" cy="1834694"/>
          </a:xfrm>
          <a:custGeom>
            <a:avLst/>
            <a:gdLst/>
            <a:ahLst/>
            <a:cxnLst/>
            <a:rect r="r" b="b" t="t" l="l"/>
            <a:pathLst>
              <a:path h="1834694" w="5339056">
                <a:moveTo>
                  <a:pt x="0" y="0"/>
                </a:moveTo>
                <a:lnTo>
                  <a:pt x="5339056" y="0"/>
                </a:lnTo>
                <a:lnTo>
                  <a:pt x="5339056" y="1834694"/>
                </a:lnTo>
                <a:lnTo>
                  <a:pt x="0" y="1834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41420" y="-18093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6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91967" y="1742316"/>
            <a:ext cx="8265977" cy="5445212"/>
          </a:xfrm>
          <a:custGeom>
            <a:avLst/>
            <a:gdLst/>
            <a:ahLst/>
            <a:cxnLst/>
            <a:rect r="r" b="b" t="t" l="l"/>
            <a:pathLst>
              <a:path h="5445212" w="8265977">
                <a:moveTo>
                  <a:pt x="0" y="0"/>
                </a:moveTo>
                <a:lnTo>
                  <a:pt x="8265976" y="0"/>
                </a:lnTo>
                <a:lnTo>
                  <a:pt x="8265976" y="5445212"/>
                </a:lnTo>
                <a:lnTo>
                  <a:pt x="0" y="544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0610" y="612447"/>
            <a:ext cx="9357660" cy="90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19"/>
              </a:lnSpc>
              <a:spcBef>
                <a:spcPct val="0"/>
              </a:spcBef>
            </a:pPr>
            <a:r>
              <a:rPr lang="en-US" sz="6499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N</a:t>
            </a:r>
            <a:r>
              <a:rPr lang="en-US" sz="6499" strike="noStrike" u="none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os basamos en……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6288" y="2466633"/>
            <a:ext cx="8851983" cy="565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3944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• Base del trabajo: Análisis descriptivo-analítico sobre seguridad funcional en paletizado automatizado.</a:t>
            </a:r>
          </a:p>
          <a:p>
            <a:pPr algn="l">
              <a:lnSpc>
                <a:spcPts val="5521"/>
              </a:lnSpc>
            </a:pPr>
            <a:r>
              <a:rPr lang="en-US" sz="3944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• Enfoque y fuentes: Normativas internacionales, bibliografía técnica y estadísticas de organismos de seguridad.</a:t>
            </a:r>
          </a:p>
          <a:p>
            <a:pPr algn="ctr">
              <a:lnSpc>
                <a:spcPts val="552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56288" y="7438221"/>
            <a:ext cx="16775425" cy="217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3944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• Principales referencias: ISO 12100, ISO 13849, IEC 62061, reportes OSHA y datos regionales de accidentes.</a:t>
            </a:r>
          </a:p>
          <a:p>
            <a:pPr algn="ctr">
              <a:lnSpc>
                <a:spcPts val="552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28580">
            <a:off x="5092726" y="1683965"/>
            <a:ext cx="1684435" cy="602185"/>
          </a:xfrm>
          <a:custGeom>
            <a:avLst/>
            <a:gdLst/>
            <a:ahLst/>
            <a:cxnLst/>
            <a:rect r="r" b="b" t="t" l="l"/>
            <a:pathLst>
              <a:path h="602185" w="1684435">
                <a:moveTo>
                  <a:pt x="0" y="0"/>
                </a:moveTo>
                <a:lnTo>
                  <a:pt x="1684435" y="0"/>
                </a:lnTo>
                <a:lnTo>
                  <a:pt x="1684435" y="602186"/>
                </a:lnTo>
                <a:lnTo>
                  <a:pt x="0" y="60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0390" y="1494376"/>
            <a:ext cx="4687445" cy="3002802"/>
            <a:chOff x="0" y="0"/>
            <a:chExt cx="6249927" cy="40037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49927" cy="4003736"/>
            </a:xfrm>
            <a:custGeom>
              <a:avLst/>
              <a:gdLst/>
              <a:ahLst/>
              <a:cxnLst/>
              <a:rect r="r" b="b" t="t" l="l"/>
              <a:pathLst>
                <a:path h="4003736" w="6249927">
                  <a:moveTo>
                    <a:pt x="0" y="0"/>
                  </a:moveTo>
                  <a:lnTo>
                    <a:pt x="6249927" y="0"/>
                  </a:lnTo>
                  <a:lnTo>
                    <a:pt x="6249927" y="4003736"/>
                  </a:lnTo>
                  <a:lnTo>
                    <a:pt x="0" y="4003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6249927" cy="4003736"/>
              <a:chOff x="0" y="0"/>
              <a:chExt cx="1486376" cy="95218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86376" cy="952180"/>
              </a:xfrm>
              <a:custGeom>
                <a:avLst/>
                <a:gdLst/>
                <a:ahLst/>
                <a:cxnLst/>
                <a:rect r="r" b="b" t="t" l="l"/>
                <a:pathLst>
                  <a:path h="952180" w="1486376">
                    <a:moveTo>
                      <a:pt x="0" y="0"/>
                    </a:moveTo>
                    <a:lnTo>
                      <a:pt x="1486376" y="0"/>
                    </a:lnTo>
                    <a:lnTo>
                      <a:pt x="1486376" y="952180"/>
                    </a:lnTo>
                    <a:lnTo>
                      <a:pt x="0" y="95218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33350" cap="sq">
                <a:solidFill>
                  <a:srgbClr val="2A3D6B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04775"/>
                <a:ext cx="1486376" cy="10569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380390" y="4734108"/>
            <a:ext cx="4687445" cy="2584334"/>
            <a:chOff x="0" y="0"/>
            <a:chExt cx="6249927" cy="34457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8319"/>
              <a:ext cx="6249927" cy="3437460"/>
            </a:xfrm>
            <a:custGeom>
              <a:avLst/>
              <a:gdLst/>
              <a:ahLst/>
              <a:cxnLst/>
              <a:rect r="r" b="b" t="t" l="l"/>
              <a:pathLst>
                <a:path h="3437460" w="6249927">
                  <a:moveTo>
                    <a:pt x="0" y="0"/>
                  </a:moveTo>
                  <a:lnTo>
                    <a:pt x="6249927" y="0"/>
                  </a:lnTo>
                  <a:lnTo>
                    <a:pt x="6249927" y="3437460"/>
                  </a:lnTo>
                  <a:lnTo>
                    <a:pt x="0" y="3437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0"/>
              <a:ext cx="6249927" cy="3445779"/>
              <a:chOff x="0" y="0"/>
              <a:chExt cx="1841247" cy="101513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841247" cy="1015137"/>
              </a:xfrm>
              <a:custGeom>
                <a:avLst/>
                <a:gdLst/>
                <a:ahLst/>
                <a:cxnLst/>
                <a:rect r="r" b="b" t="t" l="l"/>
                <a:pathLst>
                  <a:path h="1015137" w="1841247">
                    <a:moveTo>
                      <a:pt x="0" y="0"/>
                    </a:moveTo>
                    <a:lnTo>
                      <a:pt x="1841247" y="0"/>
                    </a:lnTo>
                    <a:lnTo>
                      <a:pt x="1841247" y="1015137"/>
                    </a:lnTo>
                    <a:lnTo>
                      <a:pt x="0" y="101513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33350" cap="sq">
                <a:solidFill>
                  <a:srgbClr val="2A3D6B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1841247" cy="11199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380390" y="7528042"/>
            <a:ext cx="4687445" cy="2695281"/>
            <a:chOff x="0" y="0"/>
            <a:chExt cx="6249927" cy="35937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49927" cy="3593708"/>
            </a:xfrm>
            <a:custGeom>
              <a:avLst/>
              <a:gdLst/>
              <a:ahLst/>
              <a:cxnLst/>
              <a:rect r="r" b="b" t="t" l="l"/>
              <a:pathLst>
                <a:path h="3593708" w="6249927">
                  <a:moveTo>
                    <a:pt x="0" y="0"/>
                  </a:moveTo>
                  <a:lnTo>
                    <a:pt x="6249927" y="0"/>
                  </a:lnTo>
                  <a:lnTo>
                    <a:pt x="6249927" y="3593708"/>
                  </a:lnTo>
                  <a:lnTo>
                    <a:pt x="0" y="3593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0" y="0"/>
              <a:ext cx="6249927" cy="3593708"/>
              <a:chOff x="0" y="0"/>
              <a:chExt cx="1941187" cy="111618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41187" cy="1116182"/>
              </a:xfrm>
              <a:custGeom>
                <a:avLst/>
                <a:gdLst/>
                <a:ahLst/>
                <a:cxnLst/>
                <a:rect r="r" b="b" t="t" l="l"/>
                <a:pathLst>
                  <a:path h="1116182" w="1941187">
                    <a:moveTo>
                      <a:pt x="0" y="0"/>
                    </a:moveTo>
                    <a:lnTo>
                      <a:pt x="1941187" y="0"/>
                    </a:lnTo>
                    <a:lnTo>
                      <a:pt x="1941187" y="1116182"/>
                    </a:lnTo>
                    <a:lnTo>
                      <a:pt x="0" y="111618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33350" cap="sq">
                <a:solidFill>
                  <a:srgbClr val="2A3D6B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04775"/>
                <a:ext cx="1941187" cy="12209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-328580">
            <a:off x="5179572" y="7614124"/>
            <a:ext cx="1684435" cy="602185"/>
          </a:xfrm>
          <a:custGeom>
            <a:avLst/>
            <a:gdLst/>
            <a:ahLst/>
            <a:cxnLst/>
            <a:rect r="r" b="b" t="t" l="l"/>
            <a:pathLst>
              <a:path h="602185" w="1684435">
                <a:moveTo>
                  <a:pt x="0" y="0"/>
                </a:moveTo>
                <a:lnTo>
                  <a:pt x="1684435" y="0"/>
                </a:lnTo>
                <a:lnTo>
                  <a:pt x="1684435" y="602185"/>
                </a:lnTo>
                <a:lnTo>
                  <a:pt x="0" y="6021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328580">
            <a:off x="5092726" y="4464172"/>
            <a:ext cx="1684435" cy="602185"/>
          </a:xfrm>
          <a:custGeom>
            <a:avLst/>
            <a:gdLst/>
            <a:ahLst/>
            <a:cxnLst/>
            <a:rect r="r" b="b" t="t" l="l"/>
            <a:pathLst>
              <a:path h="602185" w="1684435">
                <a:moveTo>
                  <a:pt x="0" y="0"/>
                </a:moveTo>
                <a:lnTo>
                  <a:pt x="1684435" y="0"/>
                </a:lnTo>
                <a:lnTo>
                  <a:pt x="1684435" y="602185"/>
                </a:lnTo>
                <a:lnTo>
                  <a:pt x="0" y="6021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6592372" y="2365153"/>
            <a:ext cx="4830774" cy="838916"/>
            <a:chOff x="0" y="0"/>
            <a:chExt cx="6441031" cy="111855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441031" cy="1118554"/>
              <a:chOff x="0" y="0"/>
              <a:chExt cx="635000" cy="11027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" cy="110275"/>
              </a:xfrm>
              <a:custGeom>
                <a:avLst/>
                <a:gdLst/>
                <a:ahLst/>
                <a:cxnLst/>
                <a:rect r="r" b="b" t="t" l="l"/>
                <a:pathLst>
                  <a:path h="110275" w="635000">
                    <a:moveTo>
                      <a:pt x="25400" y="0"/>
                    </a:moveTo>
                    <a:lnTo>
                      <a:pt x="609600" y="0"/>
                    </a:lnTo>
                    <a:cubicBezTo>
                      <a:pt x="623628" y="0"/>
                      <a:pt x="635000" y="11372"/>
                      <a:pt x="635000" y="25400"/>
                    </a:cubicBezTo>
                    <a:lnTo>
                      <a:pt x="635000" y="84875"/>
                    </a:lnTo>
                    <a:cubicBezTo>
                      <a:pt x="635000" y="98903"/>
                      <a:pt x="623628" y="110275"/>
                      <a:pt x="609600" y="110275"/>
                    </a:cubicBezTo>
                    <a:lnTo>
                      <a:pt x="25400" y="110275"/>
                    </a:lnTo>
                    <a:cubicBezTo>
                      <a:pt x="18664" y="110275"/>
                      <a:pt x="12203" y="107599"/>
                      <a:pt x="7439" y="102835"/>
                    </a:cubicBezTo>
                    <a:cubicBezTo>
                      <a:pt x="2676" y="98072"/>
                      <a:pt x="0" y="91611"/>
                      <a:pt x="0" y="84875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2A3D6B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35000" cy="148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95130" y="254000"/>
              <a:ext cx="6049934" cy="641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OPERACIONES MANUALES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96100" y="0"/>
            <a:ext cx="5504435" cy="4593853"/>
            <a:chOff x="0" y="0"/>
            <a:chExt cx="7339246" cy="612513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313736" cy="6125138"/>
              <a:chOff x="0" y="0"/>
              <a:chExt cx="635000" cy="53180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" cy="531802"/>
              </a:xfrm>
              <a:custGeom>
                <a:avLst/>
                <a:gdLst/>
                <a:ahLst/>
                <a:cxnLst/>
                <a:rect r="r" b="b" t="t" l="l"/>
                <a:pathLst>
                  <a:path h="531802" w="635000">
                    <a:moveTo>
                      <a:pt x="25400" y="0"/>
                    </a:moveTo>
                    <a:lnTo>
                      <a:pt x="609600" y="0"/>
                    </a:lnTo>
                    <a:cubicBezTo>
                      <a:pt x="623628" y="0"/>
                      <a:pt x="635000" y="11372"/>
                      <a:pt x="635000" y="25400"/>
                    </a:cubicBezTo>
                    <a:lnTo>
                      <a:pt x="635000" y="506402"/>
                    </a:lnTo>
                    <a:cubicBezTo>
                      <a:pt x="635000" y="520430"/>
                      <a:pt x="623628" y="531802"/>
                      <a:pt x="609600" y="531802"/>
                    </a:cubicBezTo>
                    <a:lnTo>
                      <a:pt x="25400" y="531802"/>
                    </a:lnTo>
                    <a:cubicBezTo>
                      <a:pt x="18664" y="531802"/>
                      <a:pt x="12203" y="529126"/>
                      <a:pt x="7439" y="524363"/>
                    </a:cubicBezTo>
                    <a:cubicBezTo>
                      <a:pt x="2676" y="519600"/>
                      <a:pt x="0" y="513139"/>
                      <a:pt x="0" y="506402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2A3D6B"/>
                </a:soli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35000" cy="569902"/>
              </a:xfrm>
              <a:prstGeom prst="rect">
                <a:avLst/>
              </a:prstGeom>
            </p:spPr>
            <p:txBody>
              <a:bodyPr anchor="ctr" rtlCol="false" tIns="64541" lIns="64541" bIns="64541" rIns="6454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01731" y="210465"/>
              <a:ext cx="7037516" cy="5813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80"/>
                </a:lnSpc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LENTO/DEPENDIENTE DEL OPERADOR</a:t>
              </a:r>
            </a:p>
            <a:p>
              <a:pPr algn="l" marL="768035" indent="-384017" lvl="1">
                <a:lnSpc>
                  <a:spcPts val="4980"/>
                </a:lnSpc>
                <a:buFont typeface="Arial"/>
                <a:buChar char="•"/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Ergonómico</a:t>
              </a:r>
            </a:p>
            <a:p>
              <a:pPr algn="l" marL="768035" indent="-384017" lvl="1">
                <a:lnSpc>
                  <a:spcPts val="4980"/>
                </a:lnSpc>
                <a:buFont typeface="Arial"/>
                <a:buChar char="•"/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Golpes</a:t>
              </a:r>
            </a:p>
            <a:p>
              <a:pPr algn="l" marL="768035" indent="-384017" lvl="1">
                <a:lnSpc>
                  <a:spcPts val="4980"/>
                </a:lnSpc>
                <a:buFont typeface="Arial"/>
                <a:buChar char="•"/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Cortes</a:t>
              </a:r>
            </a:p>
            <a:p>
              <a:pPr algn="l" marL="768035" indent="-384017" lvl="1">
                <a:lnSpc>
                  <a:spcPts val="4980"/>
                </a:lnSpc>
                <a:buFont typeface="Arial"/>
                <a:buChar char="•"/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Tropiezos</a:t>
              </a:r>
            </a:p>
            <a:p>
              <a:pPr algn="l" marL="768035" indent="-384017" lvl="1">
                <a:lnSpc>
                  <a:spcPts val="4980"/>
                </a:lnSpc>
                <a:buFont typeface="Arial"/>
                <a:buChar char="•"/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Fatiga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-1088352" y="336136"/>
            <a:ext cx="14220282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6000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UN POQUITO DE HISTORIA...!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544801" y="5084520"/>
            <a:ext cx="4794786" cy="1406097"/>
            <a:chOff x="0" y="0"/>
            <a:chExt cx="6393048" cy="187479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393048" cy="1874796"/>
              <a:chOff x="0" y="0"/>
              <a:chExt cx="635000" cy="18621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35000" cy="186217"/>
              </a:xfrm>
              <a:custGeom>
                <a:avLst/>
                <a:gdLst/>
                <a:ahLst/>
                <a:cxnLst/>
                <a:rect r="r" b="b" t="t" l="l"/>
                <a:pathLst>
                  <a:path h="186217" w="635000">
                    <a:moveTo>
                      <a:pt x="25400" y="0"/>
                    </a:moveTo>
                    <a:lnTo>
                      <a:pt x="609600" y="0"/>
                    </a:lnTo>
                    <a:cubicBezTo>
                      <a:pt x="623628" y="0"/>
                      <a:pt x="635000" y="11372"/>
                      <a:pt x="635000" y="25400"/>
                    </a:cubicBezTo>
                    <a:lnTo>
                      <a:pt x="635000" y="160817"/>
                    </a:lnTo>
                    <a:cubicBezTo>
                      <a:pt x="635000" y="167554"/>
                      <a:pt x="632324" y="174014"/>
                      <a:pt x="627561" y="178778"/>
                    </a:cubicBezTo>
                    <a:cubicBezTo>
                      <a:pt x="622797" y="183541"/>
                      <a:pt x="616337" y="186217"/>
                      <a:pt x="609600" y="186217"/>
                    </a:cubicBezTo>
                    <a:lnTo>
                      <a:pt x="25400" y="186217"/>
                    </a:lnTo>
                    <a:cubicBezTo>
                      <a:pt x="11372" y="186217"/>
                      <a:pt x="0" y="174845"/>
                      <a:pt x="0" y="160817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2A3D6B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35000" cy="2243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42683" y="254000"/>
              <a:ext cx="5958430" cy="13021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OPERACIONES MANUALES Y AUTOMATICAS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261026" y="8295312"/>
            <a:ext cx="5362335" cy="810302"/>
            <a:chOff x="0" y="0"/>
            <a:chExt cx="7149781" cy="1080403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7149781" cy="1080403"/>
              <a:chOff x="0" y="0"/>
              <a:chExt cx="718555" cy="10858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718555" cy="108581"/>
              </a:xfrm>
              <a:custGeom>
                <a:avLst/>
                <a:gdLst/>
                <a:ahLst/>
                <a:cxnLst/>
                <a:rect r="r" b="b" t="t" l="l"/>
                <a:pathLst>
                  <a:path h="108581" w="718555">
                    <a:moveTo>
                      <a:pt x="22446" y="0"/>
                    </a:moveTo>
                    <a:lnTo>
                      <a:pt x="696108" y="0"/>
                    </a:lnTo>
                    <a:cubicBezTo>
                      <a:pt x="702061" y="0"/>
                      <a:pt x="707771" y="2365"/>
                      <a:pt x="711980" y="6574"/>
                    </a:cubicBezTo>
                    <a:cubicBezTo>
                      <a:pt x="716190" y="10784"/>
                      <a:pt x="718555" y="16493"/>
                      <a:pt x="718555" y="22446"/>
                    </a:cubicBezTo>
                    <a:lnTo>
                      <a:pt x="718555" y="86134"/>
                    </a:lnTo>
                    <a:cubicBezTo>
                      <a:pt x="718555" y="98531"/>
                      <a:pt x="708505" y="108581"/>
                      <a:pt x="696108" y="108581"/>
                    </a:cubicBezTo>
                    <a:lnTo>
                      <a:pt x="22446" y="108581"/>
                    </a:lnTo>
                    <a:cubicBezTo>
                      <a:pt x="16493" y="108581"/>
                      <a:pt x="10784" y="106216"/>
                      <a:pt x="6574" y="102006"/>
                    </a:cubicBezTo>
                    <a:cubicBezTo>
                      <a:pt x="2365" y="97797"/>
                      <a:pt x="0" y="92087"/>
                      <a:pt x="0" y="86134"/>
                    </a:cubicBezTo>
                    <a:lnTo>
                      <a:pt x="0" y="22446"/>
                    </a:lnTo>
                    <a:cubicBezTo>
                      <a:pt x="0" y="16493"/>
                      <a:pt x="2365" y="10784"/>
                      <a:pt x="6574" y="6574"/>
                    </a:cubicBezTo>
                    <a:cubicBezTo>
                      <a:pt x="10784" y="2365"/>
                      <a:pt x="16493" y="0"/>
                      <a:pt x="2244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sq">
                <a:solidFill>
                  <a:srgbClr val="2A3D6B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718555" cy="1466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0" y="254000"/>
              <a:ext cx="7149781" cy="641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OPERACIONES AUTOMATICAS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96100" y="4717678"/>
            <a:ext cx="5991900" cy="2139781"/>
            <a:chOff x="0" y="0"/>
            <a:chExt cx="7989200" cy="2853041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7989200" cy="2853041"/>
              <a:chOff x="0" y="0"/>
              <a:chExt cx="635000" cy="22676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35000" cy="226766"/>
              </a:xfrm>
              <a:custGeom>
                <a:avLst/>
                <a:gdLst/>
                <a:ahLst/>
                <a:cxnLst/>
                <a:rect r="r" b="b" t="t" l="l"/>
                <a:pathLst>
                  <a:path h="226766" w="635000">
                    <a:moveTo>
                      <a:pt x="25400" y="0"/>
                    </a:moveTo>
                    <a:lnTo>
                      <a:pt x="609600" y="0"/>
                    </a:lnTo>
                    <a:cubicBezTo>
                      <a:pt x="623628" y="0"/>
                      <a:pt x="635000" y="11372"/>
                      <a:pt x="635000" y="25400"/>
                    </a:cubicBezTo>
                    <a:lnTo>
                      <a:pt x="635000" y="201366"/>
                    </a:lnTo>
                    <a:cubicBezTo>
                      <a:pt x="635000" y="215394"/>
                      <a:pt x="623628" y="226766"/>
                      <a:pt x="609600" y="226766"/>
                    </a:cubicBezTo>
                    <a:lnTo>
                      <a:pt x="25400" y="226766"/>
                    </a:lnTo>
                    <a:cubicBezTo>
                      <a:pt x="18664" y="226766"/>
                      <a:pt x="12203" y="224090"/>
                      <a:pt x="7439" y="219327"/>
                    </a:cubicBezTo>
                    <a:cubicBezTo>
                      <a:pt x="2676" y="214563"/>
                      <a:pt x="0" y="208103"/>
                      <a:pt x="0" y="201366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2A3D6B"/>
                </a:solidFill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635000" cy="264866"/>
              </a:xfrm>
              <a:prstGeom prst="rect">
                <a:avLst/>
              </a:prstGeom>
            </p:spPr>
            <p:txBody>
              <a:bodyPr anchor="ctr" rtlCol="false" tIns="64541" lIns="64541" bIns="64541" rIns="6454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301731" y="210591"/>
              <a:ext cx="7687469" cy="2460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80"/>
                </a:lnSpc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RAPIDO/MENOS DEPENDIENTE OPERADOR</a:t>
              </a:r>
            </a:p>
            <a:p>
              <a:pPr algn="l" marL="768035" indent="-384017" lvl="1">
                <a:lnSpc>
                  <a:spcPts val="4980"/>
                </a:lnSpc>
                <a:buFont typeface="Arial"/>
                <a:buChar char="•"/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Errores operativos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24334" y="6981284"/>
            <a:ext cx="5963666" cy="3305716"/>
            <a:chOff x="0" y="0"/>
            <a:chExt cx="7951555" cy="4407621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7951555" cy="4407621"/>
              <a:chOff x="0" y="0"/>
              <a:chExt cx="632008" cy="350328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32008" cy="350328"/>
              </a:xfrm>
              <a:custGeom>
                <a:avLst/>
                <a:gdLst/>
                <a:ahLst/>
                <a:cxnLst/>
                <a:rect r="r" b="b" t="t" l="l"/>
                <a:pathLst>
                  <a:path h="350328" w="632008">
                    <a:moveTo>
                      <a:pt x="25520" y="0"/>
                    </a:moveTo>
                    <a:lnTo>
                      <a:pt x="606488" y="0"/>
                    </a:lnTo>
                    <a:cubicBezTo>
                      <a:pt x="620582" y="0"/>
                      <a:pt x="632008" y="11426"/>
                      <a:pt x="632008" y="25520"/>
                    </a:cubicBezTo>
                    <a:lnTo>
                      <a:pt x="632008" y="324808"/>
                    </a:lnTo>
                    <a:cubicBezTo>
                      <a:pt x="632008" y="331576"/>
                      <a:pt x="629319" y="338067"/>
                      <a:pt x="624533" y="342853"/>
                    </a:cubicBezTo>
                    <a:cubicBezTo>
                      <a:pt x="619747" y="347639"/>
                      <a:pt x="613256" y="350328"/>
                      <a:pt x="606488" y="350328"/>
                    </a:cubicBezTo>
                    <a:lnTo>
                      <a:pt x="25520" y="350328"/>
                    </a:lnTo>
                    <a:cubicBezTo>
                      <a:pt x="11426" y="350328"/>
                      <a:pt x="0" y="338902"/>
                      <a:pt x="0" y="324808"/>
                    </a:cubicBezTo>
                    <a:lnTo>
                      <a:pt x="0" y="25520"/>
                    </a:lnTo>
                    <a:cubicBezTo>
                      <a:pt x="0" y="11426"/>
                      <a:pt x="11426" y="0"/>
                      <a:pt x="2552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2A3D6B"/>
                </a:solidFill>
                <a:prstDash val="solid"/>
                <a:round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632008" cy="388428"/>
              </a:xfrm>
              <a:prstGeom prst="rect">
                <a:avLst/>
              </a:prstGeom>
            </p:spPr>
            <p:txBody>
              <a:bodyPr anchor="ctr" rtlCol="false" tIns="64541" lIns="64541" bIns="64541" rIns="6454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264085" y="85104"/>
              <a:ext cx="7687469" cy="4137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80"/>
                </a:lnSpc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MUY RAPIDO</a:t>
              </a:r>
            </a:p>
            <a:p>
              <a:pPr algn="l" marL="768035" indent="-384017" lvl="1">
                <a:lnSpc>
                  <a:spcPts val="4980"/>
                </a:lnSpc>
                <a:buFont typeface="Arial"/>
                <a:buChar char="•"/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Atrapamiento</a:t>
              </a:r>
            </a:p>
            <a:p>
              <a:pPr algn="l" marL="768035" indent="-384017" lvl="1">
                <a:lnSpc>
                  <a:spcPts val="4980"/>
                </a:lnSpc>
                <a:buFont typeface="Arial"/>
                <a:buChar char="•"/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Arranque inesperado</a:t>
              </a:r>
            </a:p>
            <a:p>
              <a:pPr algn="l" marL="768035" indent="-384017" lvl="1">
                <a:lnSpc>
                  <a:spcPts val="4980"/>
                </a:lnSpc>
                <a:buFont typeface="Arial"/>
                <a:buChar char="•"/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Colisiones</a:t>
              </a:r>
            </a:p>
            <a:p>
              <a:pPr algn="l" marL="768035" indent="-384017" lvl="1">
                <a:lnSpc>
                  <a:spcPts val="4980"/>
                </a:lnSpc>
                <a:buFont typeface="Arial"/>
                <a:buChar char="•"/>
              </a:pPr>
              <a:r>
                <a:rPr lang="en-US" sz="3557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Energías residuales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true" rot="-225275">
            <a:off x="10497369" y="3256255"/>
            <a:ext cx="1684435" cy="602185"/>
          </a:xfrm>
          <a:custGeom>
            <a:avLst/>
            <a:gdLst/>
            <a:ahLst/>
            <a:cxnLst/>
            <a:rect r="r" b="b" t="t" l="l"/>
            <a:pathLst>
              <a:path h="602185" w="1684435">
                <a:moveTo>
                  <a:pt x="0" y="602186"/>
                </a:moveTo>
                <a:lnTo>
                  <a:pt x="1684435" y="602186"/>
                </a:lnTo>
                <a:lnTo>
                  <a:pt x="1684435" y="0"/>
                </a:lnTo>
                <a:lnTo>
                  <a:pt x="0" y="0"/>
                </a:lnTo>
                <a:lnTo>
                  <a:pt x="0" y="60218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true" rot="-225275">
            <a:off x="10580928" y="9269276"/>
            <a:ext cx="1684435" cy="602185"/>
          </a:xfrm>
          <a:custGeom>
            <a:avLst/>
            <a:gdLst/>
            <a:ahLst/>
            <a:cxnLst/>
            <a:rect r="r" b="b" t="t" l="l"/>
            <a:pathLst>
              <a:path h="602185" w="1684435">
                <a:moveTo>
                  <a:pt x="0" y="602186"/>
                </a:moveTo>
                <a:lnTo>
                  <a:pt x="1684435" y="602186"/>
                </a:lnTo>
                <a:lnTo>
                  <a:pt x="1684435" y="0"/>
                </a:lnTo>
                <a:lnTo>
                  <a:pt x="0" y="0"/>
                </a:lnTo>
                <a:lnTo>
                  <a:pt x="0" y="60218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true" rot="-612899">
            <a:off x="10603066" y="6374749"/>
            <a:ext cx="1684435" cy="602185"/>
          </a:xfrm>
          <a:custGeom>
            <a:avLst/>
            <a:gdLst/>
            <a:ahLst/>
            <a:cxnLst/>
            <a:rect r="r" b="b" t="t" l="l"/>
            <a:pathLst>
              <a:path h="602185" w="1684435">
                <a:moveTo>
                  <a:pt x="0" y="602186"/>
                </a:moveTo>
                <a:lnTo>
                  <a:pt x="1684434" y="602186"/>
                </a:lnTo>
                <a:lnTo>
                  <a:pt x="1684434" y="0"/>
                </a:lnTo>
                <a:lnTo>
                  <a:pt x="0" y="0"/>
                </a:lnTo>
                <a:lnTo>
                  <a:pt x="0" y="60218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193414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9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80442" y="1789878"/>
            <a:ext cx="6848236" cy="6707243"/>
          </a:xfrm>
          <a:custGeom>
            <a:avLst/>
            <a:gdLst/>
            <a:ahLst/>
            <a:cxnLst/>
            <a:rect r="r" b="b" t="t" l="l"/>
            <a:pathLst>
              <a:path h="6707243" w="6848236">
                <a:moveTo>
                  <a:pt x="0" y="0"/>
                </a:moveTo>
                <a:lnTo>
                  <a:pt x="6848236" y="0"/>
                </a:lnTo>
                <a:lnTo>
                  <a:pt x="6848236" y="6707244"/>
                </a:lnTo>
                <a:lnTo>
                  <a:pt x="0" y="6707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982393" y="1276481"/>
            <a:ext cx="20252786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IMÁGENES SENSIBLES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10294" r="0" b="10294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5410" y="8193414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96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600" y="3935666"/>
            <a:ext cx="6779571" cy="24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80"/>
              </a:lnSpc>
              <a:spcBef>
                <a:spcPct val="0"/>
              </a:spcBef>
            </a:pPr>
            <a:r>
              <a:rPr lang="en-US" sz="6000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Impacto de los accidentes industriales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09397" y="879539"/>
            <a:ext cx="9257002" cy="914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Humanos: Lesiones graves o fatales, afectación emocional y caída de la moral del equipo.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Económicos: Indemnizaciones, multas, aumento de seguros y pérdida de productividad.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31F20"/>
                </a:solidFill>
                <a:latin typeface="Questrial"/>
                <a:ea typeface="Questrial"/>
                <a:cs typeface="Questrial"/>
                <a:sym typeface="Questrial"/>
              </a:rPr>
              <a:t>Operacionales: Paradas de línea, menor calidad y caída de reputación corporativa que comprometen la continuidad.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7695734" y="1332768"/>
            <a:ext cx="0" cy="7621592"/>
          </a:xfrm>
          <a:prstGeom prst="line">
            <a:avLst/>
          </a:prstGeom>
          <a:ln cap="flat" w="95250">
            <a:solidFill>
              <a:srgbClr val="231F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410" y="8111244"/>
            <a:ext cx="2126905" cy="2175756"/>
          </a:xfrm>
          <a:custGeom>
            <a:avLst/>
            <a:gdLst/>
            <a:ahLst/>
            <a:cxnLst/>
            <a:rect r="r" b="b" t="t" l="l"/>
            <a:pathLst>
              <a:path h="2175756" w="2126905">
                <a:moveTo>
                  <a:pt x="0" y="0"/>
                </a:moveTo>
                <a:lnTo>
                  <a:pt x="2126905" y="0"/>
                </a:lnTo>
                <a:lnTo>
                  <a:pt x="2126905" y="2175756"/>
                </a:lnTo>
                <a:lnTo>
                  <a:pt x="0" y="2175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96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1257" y="-448858"/>
            <a:ext cx="11867627" cy="11440134"/>
            <a:chOff x="0" y="0"/>
            <a:chExt cx="165327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3280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53280">
                  <a:moveTo>
                    <a:pt x="0" y="0"/>
                  </a:moveTo>
                  <a:lnTo>
                    <a:pt x="1653280" y="0"/>
                  </a:lnTo>
                  <a:lnTo>
                    <a:pt x="165328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7526" t="-919" r="0" b="-1062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-922466" y="407818"/>
            <a:ext cx="11487494" cy="75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sz="5996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Hablemos de números...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48847" y="397712"/>
            <a:ext cx="8239153" cy="941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Internacional :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EE. UU.: +226 muertes y +11.000 lesiones graves anuales por vehículos industriales.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77 accidentes con robots (2015–2022); 41 muertes (1992–2017),.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</a:t>
            </a: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E: 2,97 millones de accidentes no fatales y 3.286 fatales (0,1 %) en 2022.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Los accidentes no mortales predominan, pero causan pérdidas elevadas.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Regional: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Brasil (2012–2022): 6,7 millones de accidentes laborales, 25.500 muertes; 15 % vinculadas al uso de maquinaria.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Argentina: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+600.000 accidentes laborales anuales, ~700 fatales.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Sectores de logística y manufactura entre los de mayor incidencia.</a:t>
            </a:r>
          </a:p>
          <a:p>
            <a:pPr algn="l">
              <a:lnSpc>
                <a:spcPts val="392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6066" y="-805994"/>
            <a:ext cx="5339056" cy="1834694"/>
          </a:xfrm>
          <a:custGeom>
            <a:avLst/>
            <a:gdLst/>
            <a:ahLst/>
            <a:cxnLst/>
            <a:rect r="r" b="b" t="t" l="l"/>
            <a:pathLst>
              <a:path h="1834694" w="5339056">
                <a:moveTo>
                  <a:pt x="0" y="0"/>
                </a:moveTo>
                <a:lnTo>
                  <a:pt x="5339057" y="0"/>
                </a:lnTo>
                <a:lnTo>
                  <a:pt x="5339057" y="1834694"/>
                </a:lnTo>
                <a:lnTo>
                  <a:pt x="0" y="1834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35191" y="9369653"/>
            <a:ext cx="5339056" cy="1834694"/>
          </a:xfrm>
          <a:custGeom>
            <a:avLst/>
            <a:gdLst/>
            <a:ahLst/>
            <a:cxnLst/>
            <a:rect r="r" b="b" t="t" l="l"/>
            <a:pathLst>
              <a:path h="1834694" w="5339056">
                <a:moveTo>
                  <a:pt x="0" y="0"/>
                </a:moveTo>
                <a:lnTo>
                  <a:pt x="5339056" y="0"/>
                </a:lnTo>
                <a:lnTo>
                  <a:pt x="5339056" y="1834694"/>
                </a:lnTo>
                <a:lnTo>
                  <a:pt x="0" y="1834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4307" y="732123"/>
            <a:ext cx="17470929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19"/>
              </a:lnSpc>
              <a:spcBef>
                <a:spcPct val="0"/>
              </a:spcBef>
            </a:pPr>
            <a:r>
              <a:rPr lang="en-US" sz="6499" strike="noStrike" u="none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Problemática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42184" y="2381825"/>
            <a:ext cx="11662535" cy="286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3944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Percepción Errónea: Las empresas a menudo perciben la implementación de tecnología de seguridad no como una inversión estratégica, sino como un costo adicional que debe evitarse.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41420" y="-18093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6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53589" y="5932270"/>
            <a:ext cx="16180822" cy="307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8"/>
              </a:lnSpc>
            </a:pPr>
            <a:r>
              <a:rPr lang="en-US" sz="5599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La implementación conforme a norma de sistemas de Seguridad Funcional puede reducir la tasa de accidentes graves drásticamente.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5292" t="2318" r="0" b="3671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076554" y="671893"/>
            <a:ext cx="10134892" cy="90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7200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Celda sin seguridad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8193414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96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6066" y="-805994"/>
            <a:ext cx="5339056" cy="1834694"/>
          </a:xfrm>
          <a:custGeom>
            <a:avLst/>
            <a:gdLst/>
            <a:ahLst/>
            <a:cxnLst/>
            <a:rect r="r" b="b" t="t" l="l"/>
            <a:pathLst>
              <a:path h="1834694" w="5339056">
                <a:moveTo>
                  <a:pt x="0" y="0"/>
                </a:moveTo>
                <a:lnTo>
                  <a:pt x="5339057" y="0"/>
                </a:lnTo>
                <a:lnTo>
                  <a:pt x="5339057" y="1834694"/>
                </a:lnTo>
                <a:lnTo>
                  <a:pt x="0" y="1834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35191" y="9369653"/>
            <a:ext cx="5339056" cy="1834694"/>
          </a:xfrm>
          <a:custGeom>
            <a:avLst/>
            <a:gdLst/>
            <a:ahLst/>
            <a:cxnLst/>
            <a:rect r="r" b="b" t="t" l="l"/>
            <a:pathLst>
              <a:path h="1834694" w="5339056">
                <a:moveTo>
                  <a:pt x="0" y="0"/>
                </a:moveTo>
                <a:lnTo>
                  <a:pt x="5339056" y="0"/>
                </a:lnTo>
                <a:lnTo>
                  <a:pt x="5339056" y="1834694"/>
                </a:lnTo>
                <a:lnTo>
                  <a:pt x="0" y="1834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10" y="8193414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6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42991" y="2017125"/>
            <a:ext cx="2379655" cy="1975017"/>
          </a:xfrm>
          <a:custGeom>
            <a:avLst/>
            <a:gdLst/>
            <a:ahLst/>
            <a:cxnLst/>
            <a:rect r="r" b="b" t="t" l="l"/>
            <a:pathLst>
              <a:path h="1975017" w="2379655">
                <a:moveTo>
                  <a:pt x="0" y="0"/>
                </a:moveTo>
                <a:lnTo>
                  <a:pt x="2379655" y="0"/>
                </a:lnTo>
                <a:lnTo>
                  <a:pt x="2379655" y="1975018"/>
                </a:lnTo>
                <a:lnTo>
                  <a:pt x="0" y="19750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91213" y="2275743"/>
            <a:ext cx="1703726" cy="1501589"/>
          </a:xfrm>
          <a:custGeom>
            <a:avLst/>
            <a:gdLst/>
            <a:ahLst/>
            <a:cxnLst/>
            <a:rect r="r" b="b" t="t" l="l"/>
            <a:pathLst>
              <a:path h="1501589" w="1703726">
                <a:moveTo>
                  <a:pt x="0" y="0"/>
                </a:moveTo>
                <a:lnTo>
                  <a:pt x="1703726" y="0"/>
                </a:lnTo>
                <a:lnTo>
                  <a:pt x="1703726" y="1501589"/>
                </a:lnTo>
                <a:lnTo>
                  <a:pt x="0" y="15015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23203" y="2254889"/>
            <a:ext cx="2255466" cy="1488607"/>
          </a:xfrm>
          <a:custGeom>
            <a:avLst/>
            <a:gdLst/>
            <a:ahLst/>
            <a:cxnLst/>
            <a:rect r="r" b="b" t="t" l="l"/>
            <a:pathLst>
              <a:path h="1488607" w="2255466">
                <a:moveTo>
                  <a:pt x="0" y="0"/>
                </a:moveTo>
                <a:lnTo>
                  <a:pt x="2255465" y="0"/>
                </a:lnTo>
                <a:lnTo>
                  <a:pt x="2255465" y="1488607"/>
                </a:lnTo>
                <a:lnTo>
                  <a:pt x="0" y="14886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27560" y="3958307"/>
            <a:ext cx="3289895" cy="1899914"/>
          </a:xfrm>
          <a:custGeom>
            <a:avLst/>
            <a:gdLst/>
            <a:ahLst/>
            <a:cxnLst/>
            <a:rect r="r" b="b" t="t" l="l"/>
            <a:pathLst>
              <a:path h="1899914" w="3289895">
                <a:moveTo>
                  <a:pt x="0" y="0"/>
                </a:moveTo>
                <a:lnTo>
                  <a:pt x="3289895" y="0"/>
                </a:lnTo>
                <a:lnTo>
                  <a:pt x="3289895" y="1899914"/>
                </a:lnTo>
                <a:lnTo>
                  <a:pt x="0" y="18999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67578" y="4204341"/>
            <a:ext cx="2959958" cy="1502179"/>
          </a:xfrm>
          <a:custGeom>
            <a:avLst/>
            <a:gdLst/>
            <a:ahLst/>
            <a:cxnLst/>
            <a:rect r="r" b="b" t="t" l="l"/>
            <a:pathLst>
              <a:path h="1502179" w="2959958">
                <a:moveTo>
                  <a:pt x="0" y="0"/>
                </a:moveTo>
                <a:lnTo>
                  <a:pt x="2959957" y="0"/>
                </a:lnTo>
                <a:lnTo>
                  <a:pt x="2959957" y="1502178"/>
                </a:lnTo>
                <a:lnTo>
                  <a:pt x="0" y="15021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96374" y="1911765"/>
            <a:ext cx="1804097" cy="2373812"/>
          </a:xfrm>
          <a:custGeom>
            <a:avLst/>
            <a:gdLst/>
            <a:ahLst/>
            <a:cxnLst/>
            <a:rect r="r" b="b" t="t" l="l"/>
            <a:pathLst>
              <a:path h="2373812" w="1804097">
                <a:moveTo>
                  <a:pt x="0" y="0"/>
                </a:moveTo>
                <a:lnTo>
                  <a:pt x="1804097" y="0"/>
                </a:lnTo>
                <a:lnTo>
                  <a:pt x="1804097" y="2373813"/>
                </a:lnTo>
                <a:lnTo>
                  <a:pt x="0" y="23738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93848" y="3970875"/>
            <a:ext cx="728970" cy="2227787"/>
          </a:xfrm>
          <a:custGeom>
            <a:avLst/>
            <a:gdLst/>
            <a:ahLst/>
            <a:cxnLst/>
            <a:rect r="r" b="b" t="t" l="l"/>
            <a:pathLst>
              <a:path h="2227787" w="728970">
                <a:moveTo>
                  <a:pt x="0" y="0"/>
                </a:moveTo>
                <a:lnTo>
                  <a:pt x="728970" y="0"/>
                </a:lnTo>
                <a:lnTo>
                  <a:pt x="728970" y="2227787"/>
                </a:lnTo>
                <a:lnTo>
                  <a:pt x="0" y="22277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81325" y="6041480"/>
            <a:ext cx="2890583" cy="2210446"/>
          </a:xfrm>
          <a:custGeom>
            <a:avLst/>
            <a:gdLst/>
            <a:ahLst/>
            <a:cxnLst/>
            <a:rect r="r" b="b" t="t" l="l"/>
            <a:pathLst>
              <a:path h="2210446" w="2890583">
                <a:moveTo>
                  <a:pt x="0" y="0"/>
                </a:moveTo>
                <a:lnTo>
                  <a:pt x="2890583" y="0"/>
                </a:lnTo>
                <a:lnTo>
                  <a:pt x="2890583" y="2210446"/>
                </a:lnTo>
                <a:lnTo>
                  <a:pt x="0" y="22104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71908" y="6143830"/>
            <a:ext cx="1337163" cy="2005745"/>
          </a:xfrm>
          <a:custGeom>
            <a:avLst/>
            <a:gdLst/>
            <a:ahLst/>
            <a:cxnLst/>
            <a:rect r="r" b="b" t="t" l="l"/>
            <a:pathLst>
              <a:path h="2005745" w="1337163">
                <a:moveTo>
                  <a:pt x="0" y="0"/>
                </a:moveTo>
                <a:lnTo>
                  <a:pt x="1337163" y="0"/>
                </a:lnTo>
                <a:lnTo>
                  <a:pt x="1337163" y="2005745"/>
                </a:lnTo>
                <a:lnTo>
                  <a:pt x="0" y="200574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87295" y="8188363"/>
            <a:ext cx="2105465" cy="1953263"/>
          </a:xfrm>
          <a:custGeom>
            <a:avLst/>
            <a:gdLst/>
            <a:ahLst/>
            <a:cxnLst/>
            <a:rect r="r" b="b" t="t" l="l"/>
            <a:pathLst>
              <a:path h="1953263" w="2105465">
                <a:moveTo>
                  <a:pt x="0" y="0"/>
                </a:moveTo>
                <a:lnTo>
                  <a:pt x="2105465" y="0"/>
                </a:lnTo>
                <a:lnTo>
                  <a:pt x="2105465" y="1953263"/>
                </a:lnTo>
                <a:lnTo>
                  <a:pt x="0" y="1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965592" y="8537096"/>
            <a:ext cx="1492721" cy="1196222"/>
          </a:xfrm>
          <a:custGeom>
            <a:avLst/>
            <a:gdLst/>
            <a:ahLst/>
            <a:cxnLst/>
            <a:rect r="r" b="b" t="t" l="l"/>
            <a:pathLst>
              <a:path h="1196222" w="1492721">
                <a:moveTo>
                  <a:pt x="0" y="0"/>
                </a:moveTo>
                <a:lnTo>
                  <a:pt x="1492721" y="0"/>
                </a:lnTo>
                <a:lnTo>
                  <a:pt x="1492721" y="1196222"/>
                </a:lnTo>
                <a:lnTo>
                  <a:pt x="0" y="11962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752610" y="8691728"/>
            <a:ext cx="1492721" cy="1196222"/>
          </a:xfrm>
          <a:custGeom>
            <a:avLst/>
            <a:gdLst/>
            <a:ahLst/>
            <a:cxnLst/>
            <a:rect r="r" b="b" t="t" l="l"/>
            <a:pathLst>
              <a:path h="1196222" w="1492721">
                <a:moveTo>
                  <a:pt x="0" y="0"/>
                </a:moveTo>
                <a:lnTo>
                  <a:pt x="1492721" y="0"/>
                </a:lnTo>
                <a:lnTo>
                  <a:pt x="1492721" y="1196222"/>
                </a:lnTo>
                <a:lnTo>
                  <a:pt x="0" y="11962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354197" y="8333737"/>
            <a:ext cx="2105465" cy="1953263"/>
          </a:xfrm>
          <a:custGeom>
            <a:avLst/>
            <a:gdLst/>
            <a:ahLst/>
            <a:cxnLst/>
            <a:rect r="r" b="b" t="t" l="l"/>
            <a:pathLst>
              <a:path h="1953263" w="2105465">
                <a:moveTo>
                  <a:pt x="0" y="0"/>
                </a:moveTo>
                <a:lnTo>
                  <a:pt x="2105466" y="0"/>
                </a:lnTo>
                <a:lnTo>
                  <a:pt x="2105466" y="1953263"/>
                </a:lnTo>
                <a:lnTo>
                  <a:pt x="0" y="1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59733" y="509038"/>
            <a:ext cx="17470929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20"/>
              </a:lnSpc>
              <a:spcBef>
                <a:spcPct val="0"/>
              </a:spcBef>
            </a:pPr>
            <a:r>
              <a:rPr lang="en-US" sz="6500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Dispositivos de seguridad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44830" y="6914801"/>
            <a:ext cx="3107780" cy="50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CONTROL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98319" y="8903305"/>
            <a:ext cx="4416167" cy="50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MANIOBRA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97798" y="3702436"/>
            <a:ext cx="3107780" cy="50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DETECCION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1625" y="1951616"/>
            <a:ext cx="1095414" cy="1132477"/>
          </a:xfrm>
          <a:custGeom>
            <a:avLst/>
            <a:gdLst/>
            <a:ahLst/>
            <a:cxnLst/>
            <a:rect r="r" b="b" t="t" l="l"/>
            <a:pathLst>
              <a:path h="1132477" w="1095414">
                <a:moveTo>
                  <a:pt x="0" y="0"/>
                </a:moveTo>
                <a:lnTo>
                  <a:pt x="1095414" y="0"/>
                </a:lnTo>
                <a:lnTo>
                  <a:pt x="1095414" y="1132477"/>
                </a:lnTo>
                <a:lnTo>
                  <a:pt x="0" y="11324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91688" y="4831416"/>
            <a:ext cx="1095414" cy="1132477"/>
          </a:xfrm>
          <a:custGeom>
            <a:avLst/>
            <a:gdLst/>
            <a:ahLst/>
            <a:cxnLst/>
            <a:rect r="r" b="b" t="t" l="l"/>
            <a:pathLst>
              <a:path h="1132477" w="1095414">
                <a:moveTo>
                  <a:pt x="0" y="0"/>
                </a:moveTo>
                <a:lnTo>
                  <a:pt x="1095414" y="0"/>
                </a:lnTo>
                <a:lnTo>
                  <a:pt x="1095414" y="1132477"/>
                </a:lnTo>
                <a:lnTo>
                  <a:pt x="0" y="11324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6580" y="7934597"/>
            <a:ext cx="1095414" cy="1132477"/>
          </a:xfrm>
          <a:custGeom>
            <a:avLst/>
            <a:gdLst/>
            <a:ahLst/>
            <a:cxnLst/>
            <a:rect r="r" b="b" t="t" l="l"/>
            <a:pathLst>
              <a:path h="1132477" w="1095414">
                <a:moveTo>
                  <a:pt x="0" y="0"/>
                </a:moveTo>
                <a:lnTo>
                  <a:pt x="1095414" y="0"/>
                </a:lnTo>
                <a:lnTo>
                  <a:pt x="1095414" y="1132477"/>
                </a:lnTo>
                <a:lnTo>
                  <a:pt x="0" y="11324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656268" y="4006554"/>
            <a:ext cx="3752033" cy="3591091"/>
            <a:chOff x="0" y="0"/>
            <a:chExt cx="5002710" cy="478812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5002710" cy="4788121"/>
              <a:chOff x="0" y="0"/>
              <a:chExt cx="496902" cy="4755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6902" cy="475588"/>
              </a:xfrm>
              <a:custGeom>
                <a:avLst/>
                <a:gdLst/>
                <a:ahLst/>
                <a:cxnLst/>
                <a:rect r="r" b="b" t="t" l="l"/>
                <a:pathLst>
                  <a:path h="475588" w="496902">
                    <a:moveTo>
                      <a:pt x="32459" y="0"/>
                    </a:moveTo>
                    <a:lnTo>
                      <a:pt x="464443" y="0"/>
                    </a:lnTo>
                    <a:cubicBezTo>
                      <a:pt x="473052" y="0"/>
                      <a:pt x="481308" y="3420"/>
                      <a:pt x="487395" y="9507"/>
                    </a:cubicBezTo>
                    <a:cubicBezTo>
                      <a:pt x="493483" y="15594"/>
                      <a:pt x="496902" y="23850"/>
                      <a:pt x="496902" y="32459"/>
                    </a:cubicBezTo>
                    <a:lnTo>
                      <a:pt x="496902" y="443129"/>
                    </a:lnTo>
                    <a:cubicBezTo>
                      <a:pt x="496902" y="451738"/>
                      <a:pt x="493483" y="459994"/>
                      <a:pt x="487395" y="466081"/>
                    </a:cubicBezTo>
                    <a:cubicBezTo>
                      <a:pt x="481308" y="472168"/>
                      <a:pt x="473052" y="475588"/>
                      <a:pt x="464443" y="475588"/>
                    </a:cubicBezTo>
                    <a:lnTo>
                      <a:pt x="32459" y="475588"/>
                    </a:lnTo>
                    <a:cubicBezTo>
                      <a:pt x="23850" y="475588"/>
                      <a:pt x="15594" y="472168"/>
                      <a:pt x="9507" y="466081"/>
                    </a:cubicBezTo>
                    <a:cubicBezTo>
                      <a:pt x="3420" y="459994"/>
                      <a:pt x="0" y="451738"/>
                      <a:pt x="0" y="443129"/>
                    </a:cubicBezTo>
                    <a:lnTo>
                      <a:pt x="0" y="32459"/>
                    </a:lnTo>
                    <a:cubicBezTo>
                      <a:pt x="0" y="23850"/>
                      <a:pt x="3420" y="15594"/>
                      <a:pt x="9507" y="9507"/>
                    </a:cubicBezTo>
                    <a:cubicBezTo>
                      <a:pt x="15594" y="3420"/>
                      <a:pt x="23850" y="0"/>
                      <a:pt x="3245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2A3D6B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96902" cy="513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64158" y="123318"/>
              <a:ext cx="4668209" cy="4500566"/>
            </a:xfrm>
            <a:custGeom>
              <a:avLst/>
              <a:gdLst/>
              <a:ahLst/>
              <a:cxnLst/>
              <a:rect r="r" b="b" t="t" l="l"/>
              <a:pathLst>
                <a:path h="4500566" w="4668209">
                  <a:moveTo>
                    <a:pt x="0" y="0"/>
                  </a:moveTo>
                  <a:lnTo>
                    <a:pt x="4668208" y="0"/>
                  </a:lnTo>
                  <a:lnTo>
                    <a:pt x="4668208" y="4500566"/>
                  </a:lnTo>
                  <a:lnTo>
                    <a:pt x="0" y="450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8193414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96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790378" y="422274"/>
            <a:ext cx="5136931" cy="3247327"/>
            <a:chOff x="0" y="0"/>
            <a:chExt cx="6849241" cy="432977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849241" cy="4329770"/>
              <a:chOff x="0" y="0"/>
              <a:chExt cx="680312" cy="43006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80312" cy="430062"/>
              </a:xfrm>
              <a:custGeom>
                <a:avLst/>
                <a:gdLst/>
                <a:ahLst/>
                <a:cxnLst/>
                <a:rect r="r" b="b" t="t" l="l"/>
                <a:pathLst>
                  <a:path h="430062" w="680312">
                    <a:moveTo>
                      <a:pt x="23708" y="0"/>
                    </a:moveTo>
                    <a:lnTo>
                      <a:pt x="656604" y="0"/>
                    </a:lnTo>
                    <a:cubicBezTo>
                      <a:pt x="662892" y="0"/>
                      <a:pt x="668922" y="2498"/>
                      <a:pt x="673368" y="6944"/>
                    </a:cubicBezTo>
                    <a:cubicBezTo>
                      <a:pt x="677814" y="11390"/>
                      <a:pt x="680312" y="17420"/>
                      <a:pt x="680312" y="23708"/>
                    </a:cubicBezTo>
                    <a:lnTo>
                      <a:pt x="680312" y="406353"/>
                    </a:lnTo>
                    <a:cubicBezTo>
                      <a:pt x="680312" y="412641"/>
                      <a:pt x="677814" y="418671"/>
                      <a:pt x="673368" y="423118"/>
                    </a:cubicBezTo>
                    <a:cubicBezTo>
                      <a:pt x="668922" y="427564"/>
                      <a:pt x="662892" y="430062"/>
                      <a:pt x="656604" y="430062"/>
                    </a:cubicBezTo>
                    <a:lnTo>
                      <a:pt x="23708" y="430062"/>
                    </a:lnTo>
                    <a:cubicBezTo>
                      <a:pt x="17420" y="430062"/>
                      <a:pt x="11390" y="427564"/>
                      <a:pt x="6944" y="423118"/>
                    </a:cubicBezTo>
                    <a:cubicBezTo>
                      <a:pt x="2498" y="418671"/>
                      <a:pt x="0" y="412641"/>
                      <a:pt x="0" y="406353"/>
                    </a:cubicBezTo>
                    <a:lnTo>
                      <a:pt x="0" y="23708"/>
                    </a:lnTo>
                    <a:cubicBezTo>
                      <a:pt x="0" y="17420"/>
                      <a:pt x="2498" y="11390"/>
                      <a:pt x="6944" y="6944"/>
                    </a:cubicBezTo>
                    <a:cubicBezTo>
                      <a:pt x="11390" y="2498"/>
                      <a:pt x="17420" y="0"/>
                      <a:pt x="2370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2A3D6B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80312" cy="4681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204623" y="188284"/>
              <a:ext cx="6431728" cy="3900186"/>
            </a:xfrm>
            <a:custGeom>
              <a:avLst/>
              <a:gdLst/>
              <a:ahLst/>
              <a:cxnLst/>
              <a:rect r="r" b="b" t="t" l="l"/>
              <a:pathLst>
                <a:path h="3900186" w="6431728">
                  <a:moveTo>
                    <a:pt x="0" y="0"/>
                  </a:moveTo>
                  <a:lnTo>
                    <a:pt x="6431728" y="0"/>
                  </a:lnTo>
                  <a:lnTo>
                    <a:pt x="6431728" y="3900186"/>
                  </a:lnTo>
                  <a:lnTo>
                    <a:pt x="0" y="3900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-275545" y="396321"/>
            <a:ext cx="11399035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5"/>
              </a:lnSpc>
            </a:pPr>
            <a:r>
              <a:rPr lang="en-US" sz="6500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Metodologia aplicada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27039" y="1710262"/>
            <a:ext cx="7345330" cy="78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Evaluación de peligros /</a:t>
            </a:r>
          </a:p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ponderación de riesgos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62647" y="4559497"/>
            <a:ext cx="6960843" cy="15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Determinación de Nivel de confiabilidad PL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24114" y="7839347"/>
            <a:ext cx="1053215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Selección de componentes de seguridad / diseño de solución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732468" y="7934597"/>
            <a:ext cx="4333497" cy="1887964"/>
            <a:chOff x="0" y="0"/>
            <a:chExt cx="5777996" cy="251728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141406" y="0"/>
              <a:ext cx="5451715" cy="2517286"/>
              <a:chOff x="0" y="0"/>
              <a:chExt cx="541501" cy="25003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41501" cy="250034"/>
              </a:xfrm>
              <a:custGeom>
                <a:avLst/>
                <a:gdLst/>
                <a:ahLst/>
                <a:cxnLst/>
                <a:rect r="r" b="b" t="t" l="l"/>
                <a:pathLst>
                  <a:path h="250034" w="541501">
                    <a:moveTo>
                      <a:pt x="29786" y="0"/>
                    </a:moveTo>
                    <a:lnTo>
                      <a:pt x="511715" y="0"/>
                    </a:lnTo>
                    <a:cubicBezTo>
                      <a:pt x="519615" y="0"/>
                      <a:pt x="527191" y="3138"/>
                      <a:pt x="532777" y="8724"/>
                    </a:cubicBezTo>
                    <a:cubicBezTo>
                      <a:pt x="538362" y="14310"/>
                      <a:pt x="541501" y="21886"/>
                      <a:pt x="541501" y="29786"/>
                    </a:cubicBezTo>
                    <a:lnTo>
                      <a:pt x="541501" y="220248"/>
                    </a:lnTo>
                    <a:cubicBezTo>
                      <a:pt x="541501" y="228148"/>
                      <a:pt x="538362" y="235724"/>
                      <a:pt x="532777" y="241310"/>
                    </a:cubicBezTo>
                    <a:cubicBezTo>
                      <a:pt x="527191" y="246895"/>
                      <a:pt x="519615" y="250034"/>
                      <a:pt x="511715" y="250034"/>
                    </a:cubicBezTo>
                    <a:lnTo>
                      <a:pt x="29786" y="250034"/>
                    </a:lnTo>
                    <a:cubicBezTo>
                      <a:pt x="21886" y="250034"/>
                      <a:pt x="14310" y="246895"/>
                      <a:pt x="8724" y="241310"/>
                    </a:cubicBezTo>
                    <a:cubicBezTo>
                      <a:pt x="3138" y="235724"/>
                      <a:pt x="0" y="228148"/>
                      <a:pt x="0" y="220248"/>
                    </a:cubicBezTo>
                    <a:lnTo>
                      <a:pt x="0" y="29786"/>
                    </a:lnTo>
                    <a:cubicBezTo>
                      <a:pt x="0" y="21886"/>
                      <a:pt x="3138" y="14310"/>
                      <a:pt x="8724" y="8724"/>
                    </a:cubicBezTo>
                    <a:cubicBezTo>
                      <a:pt x="14310" y="3138"/>
                      <a:pt x="21886" y="0"/>
                      <a:pt x="2978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2A3D6B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541501" cy="2881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129509"/>
              <a:ext cx="5777996" cy="2098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Cumplimiento normativo</a:t>
              </a:r>
            </a:p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Adecuación al proceso y entorno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540579" cy="866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579" cy="866576"/>
            </a:xfrm>
            <a:custGeom>
              <a:avLst/>
              <a:gdLst/>
              <a:ahLst/>
              <a:cxnLst/>
              <a:rect r="r" b="b" t="t" l="l"/>
              <a:pathLst>
                <a:path h="866576" w="1540579">
                  <a:moveTo>
                    <a:pt x="0" y="0"/>
                  </a:moveTo>
                  <a:lnTo>
                    <a:pt x="1540579" y="0"/>
                  </a:lnTo>
                  <a:lnTo>
                    <a:pt x="1540579" y="866576"/>
                  </a:lnTo>
                  <a:lnTo>
                    <a:pt x="0" y="866576"/>
                  </a:lnTo>
                  <a:close/>
                </a:path>
              </a:pathLst>
            </a:custGeom>
            <a:blipFill>
              <a:blip r:embed="rId3"/>
              <a:stretch>
                <a:fillRect l="0" t="-370" r="0" b="-37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83281" y="569023"/>
            <a:ext cx="12121437" cy="100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76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Celda con seguridad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8193414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6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496" t="0" r="-2543" b="-2184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92228" y="484381"/>
            <a:ext cx="1528311" cy="1650035"/>
            <a:chOff x="0" y="0"/>
            <a:chExt cx="2037748" cy="22000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7748" cy="2200047"/>
            </a:xfrm>
            <a:custGeom>
              <a:avLst/>
              <a:gdLst/>
              <a:ahLst/>
              <a:cxnLst/>
              <a:rect r="r" b="b" t="t" l="l"/>
              <a:pathLst>
                <a:path h="2200047" w="2037748">
                  <a:moveTo>
                    <a:pt x="0" y="0"/>
                  </a:moveTo>
                  <a:lnTo>
                    <a:pt x="2037748" y="0"/>
                  </a:lnTo>
                  <a:lnTo>
                    <a:pt x="2037748" y="2200047"/>
                  </a:lnTo>
                  <a:lnTo>
                    <a:pt x="0" y="2200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0" y="0"/>
              <a:ext cx="2037748" cy="2200047"/>
              <a:chOff x="0" y="0"/>
              <a:chExt cx="374099" cy="40389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74099" cy="403895"/>
              </a:xfrm>
              <a:custGeom>
                <a:avLst/>
                <a:gdLst/>
                <a:ahLst/>
                <a:cxnLst/>
                <a:rect r="r" b="b" t="t" l="l"/>
                <a:pathLst>
                  <a:path h="403895" w="374099">
                    <a:moveTo>
                      <a:pt x="0" y="0"/>
                    </a:moveTo>
                    <a:lnTo>
                      <a:pt x="374099" y="0"/>
                    </a:lnTo>
                    <a:lnTo>
                      <a:pt x="374099" y="403895"/>
                    </a:lnTo>
                    <a:lnTo>
                      <a:pt x="0" y="40389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2A3D6B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74099" cy="4419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1874110" y="1674002"/>
            <a:ext cx="1599470" cy="1599470"/>
            <a:chOff x="0" y="0"/>
            <a:chExt cx="2132626" cy="21326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2626" cy="2132626"/>
            </a:xfrm>
            <a:custGeom>
              <a:avLst/>
              <a:gdLst/>
              <a:ahLst/>
              <a:cxnLst/>
              <a:rect r="r" b="b" t="t" l="l"/>
              <a:pathLst>
                <a:path h="2132626" w="2132626">
                  <a:moveTo>
                    <a:pt x="0" y="0"/>
                  </a:moveTo>
                  <a:lnTo>
                    <a:pt x="2132626" y="0"/>
                  </a:lnTo>
                  <a:lnTo>
                    <a:pt x="2132626" y="2132626"/>
                  </a:lnTo>
                  <a:lnTo>
                    <a:pt x="0" y="2132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132626" cy="2132626"/>
              <a:chOff x="0" y="0"/>
              <a:chExt cx="334719" cy="33471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34719" cy="334719"/>
              </a:xfrm>
              <a:custGeom>
                <a:avLst/>
                <a:gdLst/>
                <a:ahLst/>
                <a:cxnLst/>
                <a:rect r="r" b="b" t="t" l="l"/>
                <a:pathLst>
                  <a:path h="334719" w="334719">
                    <a:moveTo>
                      <a:pt x="0" y="0"/>
                    </a:moveTo>
                    <a:lnTo>
                      <a:pt x="334719" y="0"/>
                    </a:lnTo>
                    <a:lnTo>
                      <a:pt x="334719" y="334719"/>
                    </a:lnTo>
                    <a:lnTo>
                      <a:pt x="0" y="33471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2A3D6B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34719" cy="3728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9327759" y="2492627"/>
            <a:ext cx="1628625" cy="1410788"/>
            <a:chOff x="0" y="0"/>
            <a:chExt cx="2171500" cy="1881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8821" y="72659"/>
              <a:ext cx="2053858" cy="1725931"/>
            </a:xfrm>
            <a:custGeom>
              <a:avLst/>
              <a:gdLst/>
              <a:ahLst/>
              <a:cxnLst/>
              <a:rect r="r" b="b" t="t" l="l"/>
              <a:pathLst>
                <a:path h="1725931" w="2053858">
                  <a:moveTo>
                    <a:pt x="0" y="0"/>
                  </a:moveTo>
                  <a:lnTo>
                    <a:pt x="2053858" y="0"/>
                  </a:lnTo>
                  <a:lnTo>
                    <a:pt x="2053858" y="1725932"/>
                  </a:lnTo>
                  <a:lnTo>
                    <a:pt x="0" y="1725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71500" cy="1881050"/>
              <a:chOff x="0" y="0"/>
              <a:chExt cx="374099" cy="32406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74099" cy="324061"/>
              </a:xfrm>
              <a:custGeom>
                <a:avLst/>
                <a:gdLst/>
                <a:ahLst/>
                <a:cxnLst/>
                <a:rect r="r" b="b" t="t" l="l"/>
                <a:pathLst>
                  <a:path h="324061" w="374099">
                    <a:moveTo>
                      <a:pt x="0" y="0"/>
                    </a:moveTo>
                    <a:lnTo>
                      <a:pt x="374099" y="0"/>
                    </a:lnTo>
                    <a:lnTo>
                      <a:pt x="374099" y="324061"/>
                    </a:lnTo>
                    <a:lnTo>
                      <a:pt x="0" y="32406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2A3D6B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74099" cy="3621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0" y="8193414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96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037367" y="3723048"/>
            <a:ext cx="4280128" cy="2537680"/>
            <a:chOff x="0" y="0"/>
            <a:chExt cx="1127277" cy="668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7277" cy="668360"/>
            </a:xfrm>
            <a:custGeom>
              <a:avLst/>
              <a:gdLst/>
              <a:ahLst/>
              <a:cxnLst/>
              <a:rect r="r" b="b" t="t" l="l"/>
              <a:pathLst>
                <a:path h="668360" w="1127277">
                  <a:moveTo>
                    <a:pt x="92249" y="0"/>
                  </a:moveTo>
                  <a:lnTo>
                    <a:pt x="1035027" y="0"/>
                  </a:lnTo>
                  <a:cubicBezTo>
                    <a:pt x="1085975" y="0"/>
                    <a:pt x="1127277" y="41301"/>
                    <a:pt x="1127277" y="92249"/>
                  </a:cubicBezTo>
                  <a:lnTo>
                    <a:pt x="1127277" y="576111"/>
                  </a:lnTo>
                  <a:cubicBezTo>
                    <a:pt x="1127277" y="600577"/>
                    <a:pt x="1117557" y="624041"/>
                    <a:pt x="1100257" y="641341"/>
                  </a:cubicBezTo>
                  <a:cubicBezTo>
                    <a:pt x="1082957" y="658641"/>
                    <a:pt x="1059493" y="668360"/>
                    <a:pt x="1035027" y="668360"/>
                  </a:cubicBezTo>
                  <a:lnTo>
                    <a:pt x="92249" y="668360"/>
                  </a:lnTo>
                  <a:cubicBezTo>
                    <a:pt x="41301" y="668360"/>
                    <a:pt x="0" y="627059"/>
                    <a:pt x="0" y="576111"/>
                  </a:cubicBezTo>
                  <a:lnTo>
                    <a:pt x="0" y="92249"/>
                  </a:lnTo>
                  <a:cubicBezTo>
                    <a:pt x="0" y="41301"/>
                    <a:pt x="41301" y="0"/>
                    <a:pt x="92249" y="0"/>
                  </a:cubicBezTo>
                  <a:close/>
                </a:path>
              </a:pathLst>
            </a:custGeom>
            <a:solidFill>
              <a:srgbClr val="2A3D6B">
                <a:alpha val="62745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1127277" cy="763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54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304053" y="1674002"/>
            <a:ext cx="4013443" cy="1877597"/>
            <a:chOff x="0" y="0"/>
            <a:chExt cx="1057038" cy="4945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7038" cy="494511"/>
            </a:xfrm>
            <a:custGeom>
              <a:avLst/>
              <a:gdLst/>
              <a:ahLst/>
              <a:cxnLst/>
              <a:rect r="r" b="b" t="t" l="l"/>
              <a:pathLst>
                <a:path h="494511" w="1057038">
                  <a:moveTo>
                    <a:pt x="98379" y="0"/>
                  </a:moveTo>
                  <a:lnTo>
                    <a:pt x="958660" y="0"/>
                  </a:lnTo>
                  <a:cubicBezTo>
                    <a:pt x="984751" y="0"/>
                    <a:pt x="1009774" y="10365"/>
                    <a:pt x="1028224" y="28814"/>
                  </a:cubicBezTo>
                  <a:cubicBezTo>
                    <a:pt x="1046674" y="47264"/>
                    <a:pt x="1057038" y="72287"/>
                    <a:pt x="1057038" y="98379"/>
                  </a:cubicBezTo>
                  <a:lnTo>
                    <a:pt x="1057038" y="396132"/>
                  </a:lnTo>
                  <a:cubicBezTo>
                    <a:pt x="1057038" y="422224"/>
                    <a:pt x="1046674" y="447247"/>
                    <a:pt x="1028224" y="465697"/>
                  </a:cubicBezTo>
                  <a:cubicBezTo>
                    <a:pt x="1009774" y="484146"/>
                    <a:pt x="984751" y="494511"/>
                    <a:pt x="958660" y="494511"/>
                  </a:cubicBezTo>
                  <a:lnTo>
                    <a:pt x="98379" y="494511"/>
                  </a:lnTo>
                  <a:cubicBezTo>
                    <a:pt x="72287" y="494511"/>
                    <a:pt x="47264" y="484146"/>
                    <a:pt x="28814" y="465697"/>
                  </a:cubicBezTo>
                  <a:cubicBezTo>
                    <a:pt x="10365" y="447247"/>
                    <a:pt x="0" y="422224"/>
                    <a:pt x="0" y="396132"/>
                  </a:cubicBezTo>
                  <a:lnTo>
                    <a:pt x="0" y="98379"/>
                  </a:lnTo>
                  <a:cubicBezTo>
                    <a:pt x="0" y="72287"/>
                    <a:pt x="10365" y="47264"/>
                    <a:pt x="28814" y="28814"/>
                  </a:cubicBezTo>
                  <a:cubicBezTo>
                    <a:pt x="47264" y="10365"/>
                    <a:pt x="72287" y="0"/>
                    <a:pt x="98379" y="0"/>
                  </a:cubicBezTo>
                  <a:close/>
                </a:path>
              </a:pathLst>
            </a:custGeom>
            <a:solidFill>
              <a:srgbClr val="2A3D6B">
                <a:alpha val="6274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057038" cy="589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54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-199101" y="646306"/>
            <a:ext cx="6561916" cy="148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6128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Dispositivos de protección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67311" y="3817690"/>
            <a:ext cx="4820240" cy="223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71"/>
              </a:lnSpc>
              <a:spcBef>
                <a:spcPct val="0"/>
              </a:spcBef>
            </a:pPr>
            <a:r>
              <a:rPr lang="en-US" b="true" sz="4265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Sensores magnéticos de seguridad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40026" y="1812734"/>
            <a:ext cx="5941497" cy="148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71"/>
              </a:lnSpc>
              <a:spcBef>
                <a:spcPct val="0"/>
              </a:spcBef>
            </a:pPr>
            <a:r>
              <a:rPr lang="en-US" b="true" sz="4265" strike="noStrike" u="none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Balizas de</a:t>
            </a:r>
          </a:p>
          <a:p>
            <a:pPr algn="ctr" marL="0" indent="0" lvl="0">
              <a:lnSpc>
                <a:spcPts val="5971"/>
              </a:lnSpc>
              <a:spcBef>
                <a:spcPct val="0"/>
              </a:spcBef>
            </a:pPr>
            <a:r>
              <a:rPr lang="en-US" b="true" sz="4265" strike="noStrike" u="none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seguridad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9856" y="2663330"/>
            <a:ext cx="3856077" cy="3012316"/>
            <a:chOff x="0" y="0"/>
            <a:chExt cx="1015592" cy="79336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5592" cy="793367"/>
            </a:xfrm>
            <a:custGeom>
              <a:avLst/>
              <a:gdLst/>
              <a:ahLst/>
              <a:cxnLst/>
              <a:rect r="r" b="b" t="t" l="l"/>
              <a:pathLst>
                <a:path h="793367" w="1015592">
                  <a:moveTo>
                    <a:pt x="102394" y="0"/>
                  </a:moveTo>
                  <a:lnTo>
                    <a:pt x="913199" y="0"/>
                  </a:lnTo>
                  <a:cubicBezTo>
                    <a:pt x="940355" y="0"/>
                    <a:pt x="966399" y="10788"/>
                    <a:pt x="985602" y="29990"/>
                  </a:cubicBezTo>
                  <a:cubicBezTo>
                    <a:pt x="1004804" y="49193"/>
                    <a:pt x="1015592" y="75237"/>
                    <a:pt x="1015592" y="102394"/>
                  </a:cubicBezTo>
                  <a:lnTo>
                    <a:pt x="1015592" y="690973"/>
                  </a:lnTo>
                  <a:cubicBezTo>
                    <a:pt x="1015592" y="718130"/>
                    <a:pt x="1004804" y="744174"/>
                    <a:pt x="985602" y="763377"/>
                  </a:cubicBezTo>
                  <a:cubicBezTo>
                    <a:pt x="966399" y="782579"/>
                    <a:pt x="940355" y="793367"/>
                    <a:pt x="913199" y="793367"/>
                  </a:cubicBezTo>
                  <a:lnTo>
                    <a:pt x="102394" y="793367"/>
                  </a:lnTo>
                  <a:cubicBezTo>
                    <a:pt x="75237" y="793367"/>
                    <a:pt x="49193" y="782579"/>
                    <a:pt x="29990" y="763377"/>
                  </a:cubicBezTo>
                  <a:cubicBezTo>
                    <a:pt x="10788" y="744174"/>
                    <a:pt x="0" y="718130"/>
                    <a:pt x="0" y="690973"/>
                  </a:cubicBezTo>
                  <a:lnTo>
                    <a:pt x="0" y="102394"/>
                  </a:lnTo>
                  <a:cubicBezTo>
                    <a:pt x="0" y="75237"/>
                    <a:pt x="10788" y="49193"/>
                    <a:pt x="29990" y="29990"/>
                  </a:cubicBezTo>
                  <a:cubicBezTo>
                    <a:pt x="49193" y="10788"/>
                    <a:pt x="75237" y="0"/>
                    <a:pt x="102394" y="0"/>
                  </a:cubicBezTo>
                  <a:close/>
                </a:path>
              </a:pathLst>
            </a:custGeom>
            <a:solidFill>
              <a:srgbClr val="2A3D6B">
                <a:alpha val="6274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1015592" cy="888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54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-987095" y="3038612"/>
            <a:ext cx="6067350" cy="226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323" strike="noStrike" u="none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Cortinas</a:t>
            </a:r>
          </a:p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323" strike="noStrike" u="none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fotoelectricas</a:t>
            </a:r>
          </a:p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323" strike="noStrike" u="none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con muteo</a:t>
            </a:r>
            <a:r>
              <a:rPr lang="en-US" b="true" sz="4323" strike="noStrike" u="none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  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046580" y="5330985"/>
            <a:ext cx="1319848" cy="1319848"/>
            <a:chOff x="0" y="0"/>
            <a:chExt cx="1759797" cy="17597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59797" cy="1759797"/>
            </a:xfrm>
            <a:custGeom>
              <a:avLst/>
              <a:gdLst/>
              <a:ahLst/>
              <a:cxnLst/>
              <a:rect r="r" b="b" t="t" l="l"/>
              <a:pathLst>
                <a:path h="1759797" w="1759797">
                  <a:moveTo>
                    <a:pt x="0" y="0"/>
                  </a:moveTo>
                  <a:lnTo>
                    <a:pt x="1759797" y="0"/>
                  </a:lnTo>
                  <a:lnTo>
                    <a:pt x="1759797" y="1759797"/>
                  </a:lnTo>
                  <a:lnTo>
                    <a:pt x="0" y="1759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759797" cy="1759797"/>
              <a:chOff x="0" y="0"/>
              <a:chExt cx="347614" cy="34761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47614" cy="347614"/>
              </a:xfrm>
              <a:custGeom>
                <a:avLst/>
                <a:gdLst/>
                <a:ahLst/>
                <a:cxnLst/>
                <a:rect r="r" b="b" t="t" l="l"/>
                <a:pathLst>
                  <a:path h="347614" w="347614">
                    <a:moveTo>
                      <a:pt x="0" y="0"/>
                    </a:moveTo>
                    <a:lnTo>
                      <a:pt x="347614" y="0"/>
                    </a:lnTo>
                    <a:lnTo>
                      <a:pt x="347614" y="347614"/>
                    </a:lnTo>
                    <a:lnTo>
                      <a:pt x="0" y="34761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2A3D6B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347614" cy="3857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4426957" y="553334"/>
            <a:ext cx="4013443" cy="945640"/>
            <a:chOff x="0" y="0"/>
            <a:chExt cx="1057038" cy="2490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57038" cy="249057"/>
            </a:xfrm>
            <a:custGeom>
              <a:avLst/>
              <a:gdLst/>
              <a:ahLst/>
              <a:cxnLst/>
              <a:rect r="r" b="b" t="t" l="l"/>
              <a:pathLst>
                <a:path h="249057" w="1057038">
                  <a:moveTo>
                    <a:pt x="98379" y="0"/>
                  </a:moveTo>
                  <a:lnTo>
                    <a:pt x="958660" y="0"/>
                  </a:lnTo>
                  <a:cubicBezTo>
                    <a:pt x="984751" y="0"/>
                    <a:pt x="1009774" y="10365"/>
                    <a:pt x="1028224" y="28814"/>
                  </a:cubicBezTo>
                  <a:cubicBezTo>
                    <a:pt x="1046674" y="47264"/>
                    <a:pt x="1057038" y="72287"/>
                    <a:pt x="1057038" y="98379"/>
                  </a:cubicBezTo>
                  <a:lnTo>
                    <a:pt x="1057038" y="150679"/>
                  </a:lnTo>
                  <a:cubicBezTo>
                    <a:pt x="1057038" y="176770"/>
                    <a:pt x="1046674" y="201793"/>
                    <a:pt x="1028224" y="220243"/>
                  </a:cubicBezTo>
                  <a:cubicBezTo>
                    <a:pt x="1009774" y="238692"/>
                    <a:pt x="984751" y="249057"/>
                    <a:pt x="958660" y="249057"/>
                  </a:cubicBezTo>
                  <a:lnTo>
                    <a:pt x="98379" y="249057"/>
                  </a:lnTo>
                  <a:cubicBezTo>
                    <a:pt x="72287" y="249057"/>
                    <a:pt x="47264" y="238692"/>
                    <a:pt x="28814" y="220243"/>
                  </a:cubicBezTo>
                  <a:cubicBezTo>
                    <a:pt x="10365" y="201793"/>
                    <a:pt x="0" y="176770"/>
                    <a:pt x="0" y="150679"/>
                  </a:cubicBezTo>
                  <a:lnTo>
                    <a:pt x="0" y="98379"/>
                  </a:lnTo>
                  <a:cubicBezTo>
                    <a:pt x="0" y="72287"/>
                    <a:pt x="10365" y="47264"/>
                    <a:pt x="28814" y="28814"/>
                  </a:cubicBezTo>
                  <a:cubicBezTo>
                    <a:pt x="47264" y="10365"/>
                    <a:pt x="72287" y="0"/>
                    <a:pt x="98379" y="0"/>
                  </a:cubicBezTo>
                  <a:close/>
                </a:path>
              </a:pathLst>
            </a:custGeom>
            <a:solidFill>
              <a:srgbClr val="2A3D6B">
                <a:alpha val="6274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1057038" cy="344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54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473579" y="596850"/>
            <a:ext cx="5920198" cy="90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38"/>
              </a:lnSpc>
              <a:spcBef>
                <a:spcPct val="0"/>
              </a:spcBef>
            </a:pPr>
            <a:r>
              <a:rPr lang="en-US" b="true" sz="5313" strike="noStrike" u="none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Radares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4170710" y="6432178"/>
            <a:ext cx="4013443" cy="1016003"/>
            <a:chOff x="0" y="0"/>
            <a:chExt cx="1057038" cy="2675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57038" cy="267589"/>
            </a:xfrm>
            <a:custGeom>
              <a:avLst/>
              <a:gdLst/>
              <a:ahLst/>
              <a:cxnLst/>
              <a:rect r="r" b="b" t="t" l="l"/>
              <a:pathLst>
                <a:path h="267589" w="1057038">
                  <a:moveTo>
                    <a:pt x="98379" y="0"/>
                  </a:moveTo>
                  <a:lnTo>
                    <a:pt x="958660" y="0"/>
                  </a:lnTo>
                  <a:cubicBezTo>
                    <a:pt x="984751" y="0"/>
                    <a:pt x="1009774" y="10365"/>
                    <a:pt x="1028224" y="28814"/>
                  </a:cubicBezTo>
                  <a:cubicBezTo>
                    <a:pt x="1046674" y="47264"/>
                    <a:pt x="1057038" y="72287"/>
                    <a:pt x="1057038" y="98379"/>
                  </a:cubicBezTo>
                  <a:lnTo>
                    <a:pt x="1057038" y="169210"/>
                  </a:lnTo>
                  <a:cubicBezTo>
                    <a:pt x="1057038" y="195302"/>
                    <a:pt x="1046674" y="220325"/>
                    <a:pt x="1028224" y="238775"/>
                  </a:cubicBezTo>
                  <a:cubicBezTo>
                    <a:pt x="1009774" y="257224"/>
                    <a:pt x="984751" y="267589"/>
                    <a:pt x="958660" y="267589"/>
                  </a:cubicBezTo>
                  <a:lnTo>
                    <a:pt x="98379" y="267589"/>
                  </a:lnTo>
                  <a:cubicBezTo>
                    <a:pt x="44046" y="267589"/>
                    <a:pt x="0" y="223544"/>
                    <a:pt x="0" y="169210"/>
                  </a:cubicBezTo>
                  <a:lnTo>
                    <a:pt x="0" y="98379"/>
                  </a:lnTo>
                  <a:cubicBezTo>
                    <a:pt x="0" y="72287"/>
                    <a:pt x="10365" y="47264"/>
                    <a:pt x="28814" y="28814"/>
                  </a:cubicBezTo>
                  <a:cubicBezTo>
                    <a:pt x="47264" y="10365"/>
                    <a:pt x="72287" y="0"/>
                    <a:pt x="98379" y="0"/>
                  </a:cubicBezTo>
                  <a:close/>
                </a:path>
              </a:pathLst>
            </a:custGeom>
            <a:solidFill>
              <a:srgbClr val="2A3D6B">
                <a:alpha val="6274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1057038" cy="362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54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3217332" y="6546058"/>
            <a:ext cx="5920198" cy="90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38"/>
              </a:lnSpc>
              <a:spcBef>
                <a:spcPct val="0"/>
              </a:spcBef>
            </a:pPr>
            <a:r>
              <a:rPr lang="en-US" b="true" sz="5313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PSC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975469" y="7619631"/>
            <a:ext cx="4280128" cy="2537680"/>
            <a:chOff x="0" y="0"/>
            <a:chExt cx="1127277" cy="668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27277" cy="668360"/>
            </a:xfrm>
            <a:custGeom>
              <a:avLst/>
              <a:gdLst/>
              <a:ahLst/>
              <a:cxnLst/>
              <a:rect r="r" b="b" t="t" l="l"/>
              <a:pathLst>
                <a:path h="668360" w="1127277">
                  <a:moveTo>
                    <a:pt x="92249" y="0"/>
                  </a:moveTo>
                  <a:lnTo>
                    <a:pt x="1035027" y="0"/>
                  </a:lnTo>
                  <a:cubicBezTo>
                    <a:pt x="1085975" y="0"/>
                    <a:pt x="1127277" y="41301"/>
                    <a:pt x="1127277" y="92249"/>
                  </a:cubicBezTo>
                  <a:lnTo>
                    <a:pt x="1127277" y="576111"/>
                  </a:lnTo>
                  <a:cubicBezTo>
                    <a:pt x="1127277" y="600577"/>
                    <a:pt x="1117557" y="624041"/>
                    <a:pt x="1100257" y="641341"/>
                  </a:cubicBezTo>
                  <a:cubicBezTo>
                    <a:pt x="1082957" y="658641"/>
                    <a:pt x="1059493" y="668360"/>
                    <a:pt x="1035027" y="668360"/>
                  </a:cubicBezTo>
                  <a:lnTo>
                    <a:pt x="92249" y="668360"/>
                  </a:lnTo>
                  <a:cubicBezTo>
                    <a:pt x="41301" y="668360"/>
                    <a:pt x="0" y="627059"/>
                    <a:pt x="0" y="576111"/>
                  </a:cubicBezTo>
                  <a:lnTo>
                    <a:pt x="0" y="92249"/>
                  </a:lnTo>
                  <a:cubicBezTo>
                    <a:pt x="0" y="41301"/>
                    <a:pt x="41301" y="0"/>
                    <a:pt x="92249" y="0"/>
                  </a:cubicBezTo>
                  <a:close/>
                </a:path>
              </a:pathLst>
            </a:custGeom>
            <a:solidFill>
              <a:srgbClr val="2A3D6B">
                <a:alpha val="62745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1127277" cy="763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54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767311" y="7714881"/>
            <a:ext cx="4820240" cy="223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1"/>
              </a:lnSpc>
            </a:pPr>
            <a:r>
              <a:rPr lang="en-US" b="true" sz="4265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Relé guía forz.</a:t>
            </a:r>
          </a:p>
          <a:p>
            <a:pPr algn="ctr">
              <a:lnSpc>
                <a:spcPts val="5971"/>
              </a:lnSpc>
            </a:pPr>
            <a:r>
              <a:rPr lang="en-US" b="true" sz="4265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Contactor</a:t>
            </a:r>
          </a:p>
          <a:p>
            <a:pPr algn="ctr" marL="0" indent="0" lvl="0">
              <a:lnSpc>
                <a:spcPts val="5971"/>
              </a:lnSpc>
              <a:spcBef>
                <a:spcPct val="0"/>
              </a:spcBef>
            </a:pPr>
            <a:r>
              <a:rPr lang="en-US" b="true" sz="4265">
                <a:solidFill>
                  <a:srgbClr val="BFC9E4"/>
                </a:solidFill>
                <a:latin typeface="Vollkorn Bold"/>
                <a:ea typeface="Vollkorn Bold"/>
                <a:cs typeface="Vollkorn Bold"/>
                <a:sym typeface="Vollkorn Bold"/>
              </a:rPr>
              <a:t>de Seg.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1254" y="631682"/>
            <a:ext cx="11867623" cy="8947453"/>
          </a:xfrm>
          <a:custGeom>
            <a:avLst/>
            <a:gdLst/>
            <a:ahLst/>
            <a:cxnLst/>
            <a:rect r="r" b="b" t="t" l="l"/>
            <a:pathLst>
              <a:path h="8947453" w="11867623">
                <a:moveTo>
                  <a:pt x="0" y="0"/>
                </a:moveTo>
                <a:lnTo>
                  <a:pt x="11867623" y="0"/>
                </a:lnTo>
                <a:lnTo>
                  <a:pt x="11867623" y="8947453"/>
                </a:lnTo>
                <a:lnTo>
                  <a:pt x="0" y="8947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5" t="0" r="-51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41420" y="8211507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6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05449" y="6029334"/>
            <a:ext cx="3582551" cy="2545718"/>
          </a:xfrm>
          <a:custGeom>
            <a:avLst/>
            <a:gdLst/>
            <a:ahLst/>
            <a:cxnLst/>
            <a:rect r="r" b="b" t="t" l="l"/>
            <a:pathLst>
              <a:path h="2545718" w="3582551">
                <a:moveTo>
                  <a:pt x="0" y="0"/>
                </a:moveTo>
                <a:lnTo>
                  <a:pt x="3582551" y="0"/>
                </a:lnTo>
                <a:lnTo>
                  <a:pt x="3582551" y="2545718"/>
                </a:lnTo>
                <a:lnTo>
                  <a:pt x="0" y="2545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01551" y="2502393"/>
            <a:ext cx="1833236" cy="2165981"/>
          </a:xfrm>
          <a:custGeom>
            <a:avLst/>
            <a:gdLst/>
            <a:ahLst/>
            <a:cxnLst/>
            <a:rect r="r" b="b" t="t" l="l"/>
            <a:pathLst>
              <a:path h="2165981" w="1833236">
                <a:moveTo>
                  <a:pt x="0" y="0"/>
                </a:moveTo>
                <a:lnTo>
                  <a:pt x="1833236" y="0"/>
                </a:lnTo>
                <a:lnTo>
                  <a:pt x="1833236" y="2165980"/>
                </a:lnTo>
                <a:lnTo>
                  <a:pt x="0" y="2165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96725" y="2692104"/>
            <a:ext cx="896208" cy="1786558"/>
          </a:xfrm>
          <a:custGeom>
            <a:avLst/>
            <a:gdLst/>
            <a:ahLst/>
            <a:cxnLst/>
            <a:rect r="r" b="b" t="t" l="l"/>
            <a:pathLst>
              <a:path h="1786558" w="896208">
                <a:moveTo>
                  <a:pt x="0" y="0"/>
                </a:moveTo>
                <a:lnTo>
                  <a:pt x="896208" y="0"/>
                </a:lnTo>
                <a:lnTo>
                  <a:pt x="896208" y="1786558"/>
                </a:lnTo>
                <a:lnTo>
                  <a:pt x="0" y="1786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01551" y="4896973"/>
            <a:ext cx="2657363" cy="1383342"/>
          </a:xfrm>
          <a:custGeom>
            <a:avLst/>
            <a:gdLst/>
            <a:ahLst/>
            <a:cxnLst/>
            <a:rect r="r" b="b" t="t" l="l"/>
            <a:pathLst>
              <a:path h="1383342" w="2657363">
                <a:moveTo>
                  <a:pt x="0" y="0"/>
                </a:moveTo>
                <a:lnTo>
                  <a:pt x="2657363" y="0"/>
                </a:lnTo>
                <a:lnTo>
                  <a:pt x="2657363" y="1383343"/>
                </a:lnTo>
                <a:lnTo>
                  <a:pt x="0" y="13833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28621" y="6508916"/>
            <a:ext cx="1276828" cy="1166170"/>
          </a:xfrm>
          <a:custGeom>
            <a:avLst/>
            <a:gdLst/>
            <a:ahLst/>
            <a:cxnLst/>
            <a:rect r="r" b="b" t="t" l="l"/>
            <a:pathLst>
              <a:path h="1166170" w="1276828">
                <a:moveTo>
                  <a:pt x="0" y="0"/>
                </a:moveTo>
                <a:lnTo>
                  <a:pt x="1276828" y="0"/>
                </a:lnTo>
                <a:lnTo>
                  <a:pt x="1276828" y="1166170"/>
                </a:lnTo>
                <a:lnTo>
                  <a:pt x="0" y="11661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992927" y="4668373"/>
            <a:ext cx="1150623" cy="1050902"/>
          </a:xfrm>
          <a:custGeom>
            <a:avLst/>
            <a:gdLst/>
            <a:ahLst/>
            <a:cxnLst/>
            <a:rect r="r" b="b" t="t" l="l"/>
            <a:pathLst>
              <a:path h="1050902" w="1150623">
                <a:moveTo>
                  <a:pt x="1150622" y="0"/>
                </a:moveTo>
                <a:lnTo>
                  <a:pt x="0" y="0"/>
                </a:lnTo>
                <a:lnTo>
                  <a:pt x="0" y="1050902"/>
                </a:lnTo>
                <a:lnTo>
                  <a:pt x="1150622" y="1050902"/>
                </a:lnTo>
                <a:lnTo>
                  <a:pt x="1150622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05449" y="3184412"/>
            <a:ext cx="1681437" cy="487617"/>
          </a:xfrm>
          <a:custGeom>
            <a:avLst/>
            <a:gdLst/>
            <a:ahLst/>
            <a:cxnLst/>
            <a:rect r="r" b="b" t="t" l="l"/>
            <a:pathLst>
              <a:path h="487617" w="1681437">
                <a:moveTo>
                  <a:pt x="0" y="0"/>
                </a:moveTo>
                <a:lnTo>
                  <a:pt x="1681438" y="0"/>
                </a:lnTo>
                <a:lnTo>
                  <a:pt x="1681438" y="487617"/>
                </a:lnTo>
                <a:lnTo>
                  <a:pt x="0" y="4876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702941" y="393515"/>
            <a:ext cx="7177219" cy="179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20"/>
              </a:lnSpc>
              <a:spcBef>
                <a:spcPct val="0"/>
              </a:spcBef>
            </a:pPr>
            <a:r>
              <a:rPr lang="en-US" sz="6500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Esquema de control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20878" y="2016749"/>
            <a:ext cx="14446244" cy="8035723"/>
          </a:xfrm>
          <a:custGeom>
            <a:avLst/>
            <a:gdLst/>
            <a:ahLst/>
            <a:cxnLst/>
            <a:rect r="r" b="b" t="t" l="l"/>
            <a:pathLst>
              <a:path h="8035723" w="14446244">
                <a:moveTo>
                  <a:pt x="0" y="0"/>
                </a:moveTo>
                <a:lnTo>
                  <a:pt x="14446244" y="0"/>
                </a:lnTo>
                <a:lnTo>
                  <a:pt x="14446244" y="8035723"/>
                </a:lnTo>
                <a:lnTo>
                  <a:pt x="0" y="8035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20878" y="2016749"/>
            <a:ext cx="14446244" cy="8035723"/>
            <a:chOff x="0" y="0"/>
            <a:chExt cx="3804772" cy="21164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04772" cy="2116405"/>
            </a:xfrm>
            <a:custGeom>
              <a:avLst/>
              <a:gdLst/>
              <a:ahLst/>
              <a:cxnLst/>
              <a:rect r="r" b="b" t="t" l="l"/>
              <a:pathLst>
                <a:path h="2116405" w="3804772">
                  <a:moveTo>
                    <a:pt x="0" y="0"/>
                  </a:moveTo>
                  <a:lnTo>
                    <a:pt x="3804772" y="0"/>
                  </a:lnTo>
                  <a:lnTo>
                    <a:pt x="3804772" y="2116405"/>
                  </a:lnTo>
                  <a:lnTo>
                    <a:pt x="0" y="21164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2A3D6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04772" cy="2154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90322" y="652843"/>
            <a:ext cx="13707356" cy="81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5"/>
              </a:lnSpc>
              <a:spcBef>
                <a:spcPct val="0"/>
              </a:spcBef>
            </a:pPr>
            <a:r>
              <a:rPr lang="en-US" sz="6500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Programa PLC de seguridad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410" y="8193414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6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419106" y="883399"/>
            <a:ext cx="5430138" cy="1730857"/>
          </a:xfrm>
          <a:custGeom>
            <a:avLst/>
            <a:gdLst/>
            <a:ahLst/>
            <a:cxnLst/>
            <a:rect r="r" b="b" t="t" l="l"/>
            <a:pathLst>
              <a:path h="1730857" w="5430138">
                <a:moveTo>
                  <a:pt x="0" y="0"/>
                </a:moveTo>
                <a:lnTo>
                  <a:pt x="5430139" y="0"/>
                </a:lnTo>
                <a:lnTo>
                  <a:pt x="5430139" y="1730857"/>
                </a:lnTo>
                <a:lnTo>
                  <a:pt x="0" y="1730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60653" y="883399"/>
            <a:ext cx="12415594" cy="8520201"/>
          </a:xfrm>
          <a:custGeom>
            <a:avLst/>
            <a:gdLst/>
            <a:ahLst/>
            <a:cxnLst/>
            <a:rect r="r" b="b" t="t" l="l"/>
            <a:pathLst>
              <a:path h="8520201" w="12415594">
                <a:moveTo>
                  <a:pt x="0" y="0"/>
                </a:moveTo>
                <a:lnTo>
                  <a:pt x="12415594" y="0"/>
                </a:lnTo>
                <a:lnTo>
                  <a:pt x="12415594" y="8520202"/>
                </a:lnTo>
                <a:lnTo>
                  <a:pt x="0" y="8520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457154" y="4183761"/>
            <a:ext cx="6099688" cy="179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20"/>
              </a:lnSpc>
              <a:spcBef>
                <a:spcPct val="0"/>
              </a:spcBef>
            </a:pPr>
            <a:r>
              <a:rPr lang="en-US" sz="6500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Esquema  operativo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8211507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6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5381" y="495359"/>
            <a:ext cx="15417237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6500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BENEFICIOS ECONÓMICOS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73871"/>
            <a:ext cx="16958026" cy="778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C</a:t>
            </a: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ostos aprox: </a:t>
            </a: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Hardware de seguridad USD 9,500 - 15,000.</a:t>
            </a:r>
          </a:p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                              Ingeniería e instalación USD 7,000 - 12,000.</a:t>
            </a:r>
          </a:p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                              Capacitación USD 2,000 - 3,000.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                              Inversión total estimada (Range): USD 18,500 - </a:t>
            </a:r>
            <a:r>
              <a:rPr lang="en-US" b="true" sz="3555">
                <a:solidFill>
                  <a:srgbClr val="FFFFFF"/>
                </a:solidFill>
                <a:latin typeface="Vollkorn Bold"/>
                <a:ea typeface="Vollkorn Bold"/>
                <a:cs typeface="Vollkorn Bold"/>
                <a:sym typeface="Vollkorn Bold"/>
              </a:rPr>
              <a:t>30,000.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ROI: La inversión en safety (USD 18.5k - 30k) es una fracción del costo de</a:t>
            </a:r>
          </a:p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un solo accidente grave (</a:t>
            </a:r>
            <a:r>
              <a:rPr lang="en-US" b="true" sz="3555">
                <a:solidFill>
                  <a:srgbClr val="FFFFFF"/>
                </a:solidFill>
                <a:latin typeface="Vollkorn Bold"/>
                <a:ea typeface="Vollkorn Bold"/>
                <a:cs typeface="Vollkorn Bold"/>
                <a:sym typeface="Vollkorn Bold"/>
              </a:rPr>
              <a:t>USD 200k+).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Beneficios:       Ahorros en costos directos accidentes graves. Usd200,000</a:t>
            </a:r>
          </a:p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                              Atracción y retención de talento</a:t>
            </a:r>
          </a:p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                              Valor de marca y relaciones con clientes</a:t>
            </a:r>
          </a:p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                              Ventaja en relaciones inversoras</a:t>
            </a:r>
          </a:p>
          <a:p>
            <a:pPr algn="l">
              <a:lnSpc>
                <a:spcPts val="3840"/>
              </a:lnSpc>
            </a:pPr>
            <a:r>
              <a:rPr lang="en-US" sz="3555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                              Cumplimiento normativo 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41420" y="8193414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96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41420" y="8193414"/>
            <a:ext cx="2046580" cy="2093586"/>
          </a:xfrm>
          <a:custGeom>
            <a:avLst/>
            <a:gdLst/>
            <a:ahLst/>
            <a:cxnLst/>
            <a:rect r="r" b="b" t="t" l="l"/>
            <a:pathLst>
              <a:path h="2093586" w="2046580">
                <a:moveTo>
                  <a:pt x="0" y="0"/>
                </a:moveTo>
                <a:lnTo>
                  <a:pt x="2046580" y="0"/>
                </a:lnTo>
                <a:lnTo>
                  <a:pt x="2046580" y="2093586"/>
                </a:lnTo>
                <a:lnTo>
                  <a:pt x="0" y="2093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9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6797" y="1802085"/>
            <a:ext cx="16052503" cy="812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128" indent="-357064" lvl="1">
              <a:lnSpc>
                <a:spcPts val="3572"/>
              </a:lnSpc>
              <a:buFont typeface="Arial"/>
              <a:buChar char="•"/>
            </a:pPr>
            <a:r>
              <a:rPr lang="en-US" sz="3307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La implementación de seguridad funcional reduce eficazmente los riesgos en operaciones automatizadas.</a:t>
            </a:r>
          </a:p>
          <a:p>
            <a:pPr algn="l">
              <a:lnSpc>
                <a:spcPts val="3572"/>
              </a:lnSpc>
            </a:pPr>
          </a:p>
          <a:p>
            <a:pPr algn="l" marL="714128" indent="-357064" lvl="1">
              <a:lnSpc>
                <a:spcPts val="3572"/>
              </a:lnSpc>
              <a:buFont typeface="Arial"/>
              <a:buChar char="•"/>
            </a:pPr>
            <a:r>
              <a:rPr lang="en-US" sz="3307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La seguridad funcional se confirma como una inversión estratégica: evita costos, mejora la productividad, proporciona previsibilidad y fortalece la imagen corporativa.</a:t>
            </a:r>
          </a:p>
          <a:p>
            <a:pPr algn="l">
              <a:lnSpc>
                <a:spcPts val="3572"/>
              </a:lnSpc>
            </a:pPr>
          </a:p>
          <a:p>
            <a:pPr algn="l" marL="714128" indent="-357064" lvl="1">
              <a:lnSpc>
                <a:spcPts val="3572"/>
              </a:lnSpc>
              <a:buFont typeface="Arial"/>
              <a:buChar char="•"/>
            </a:pPr>
            <a:r>
              <a:rPr lang="en-US" sz="3307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Un sistema seguro protege tanto a las personas como a la continuidad operativa y a la empresa en su conjunto.</a:t>
            </a:r>
          </a:p>
          <a:p>
            <a:pPr algn="l">
              <a:lnSpc>
                <a:spcPts val="3572"/>
              </a:lnSpc>
            </a:pPr>
          </a:p>
          <a:p>
            <a:pPr algn="l">
              <a:lnSpc>
                <a:spcPts val="3572"/>
              </a:lnSpc>
            </a:pPr>
          </a:p>
          <a:p>
            <a:pPr algn="l" marL="2142385" indent="-535596" lvl="3">
              <a:lnSpc>
                <a:spcPts val="3572"/>
              </a:lnSpc>
              <a:buFont typeface="Arial"/>
              <a:buChar char="￭"/>
            </a:pPr>
            <a:r>
              <a:rPr lang="en-US" sz="3307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3307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in seguridad, no hay eficiencia.</a:t>
            </a:r>
          </a:p>
          <a:p>
            <a:pPr algn="l">
              <a:lnSpc>
                <a:spcPts val="3572"/>
              </a:lnSpc>
            </a:pPr>
          </a:p>
          <a:p>
            <a:pPr algn="l" marL="2142385" indent="-535596" lvl="3">
              <a:lnSpc>
                <a:spcPts val="3572"/>
              </a:lnSpc>
              <a:buFont typeface="Arial"/>
              <a:buChar char="￭"/>
            </a:pPr>
            <a:r>
              <a:rPr lang="en-US" sz="3307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Sin seguridad, no hay calidad.</a:t>
            </a:r>
          </a:p>
          <a:p>
            <a:pPr algn="l">
              <a:lnSpc>
                <a:spcPts val="3572"/>
              </a:lnSpc>
            </a:pPr>
          </a:p>
          <a:p>
            <a:pPr algn="l" marL="2142385" indent="-535596" lvl="3">
              <a:lnSpc>
                <a:spcPts val="3572"/>
              </a:lnSpc>
              <a:buFont typeface="Arial"/>
              <a:buChar char="￭"/>
            </a:pPr>
            <a:r>
              <a:rPr lang="en-US" sz="3307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Sin seguridad, no hay futuro.</a:t>
            </a:r>
          </a:p>
          <a:p>
            <a:pPr algn="l">
              <a:lnSpc>
                <a:spcPts val="3572"/>
              </a:lnSpc>
            </a:pPr>
          </a:p>
          <a:p>
            <a:pPr algn="l">
              <a:lnSpc>
                <a:spcPts val="357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068139" y="5673060"/>
            <a:ext cx="5917123" cy="3977567"/>
          </a:xfrm>
          <a:custGeom>
            <a:avLst/>
            <a:gdLst/>
            <a:ahLst/>
            <a:cxnLst/>
            <a:rect r="r" b="b" t="t" l="l"/>
            <a:pathLst>
              <a:path h="3977567" w="5917123">
                <a:moveTo>
                  <a:pt x="0" y="0"/>
                </a:moveTo>
                <a:lnTo>
                  <a:pt x="5917123" y="0"/>
                </a:lnTo>
                <a:lnTo>
                  <a:pt x="5917123" y="3977566"/>
                </a:lnTo>
                <a:lnTo>
                  <a:pt x="0" y="397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43973" y="596358"/>
            <a:ext cx="9400053" cy="95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3"/>
              </a:lnSpc>
            </a:pPr>
            <a:r>
              <a:rPr lang="en-US" sz="6827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Conclusiones clave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78459" y="3051479"/>
            <a:ext cx="8131083" cy="369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2"/>
              </a:lnSpc>
            </a:pPr>
            <a:r>
              <a:rPr lang="en-US" b="true" sz="14031" spc="449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Muchas</a:t>
            </a:r>
          </a:p>
          <a:p>
            <a:pPr algn="ctr" marL="0" indent="0" lvl="0">
              <a:lnSpc>
                <a:spcPts val="14312"/>
              </a:lnSpc>
            </a:pPr>
            <a:r>
              <a:rPr lang="en-US" b="true" sz="14031" spc="449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Gracias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700000">
            <a:off x="-5645219" y="0"/>
            <a:ext cx="9547927" cy="9547927"/>
          </a:xfrm>
          <a:custGeom>
            <a:avLst/>
            <a:gdLst/>
            <a:ahLst/>
            <a:cxnLst/>
            <a:rect r="r" b="b" t="t" l="l"/>
            <a:pathLst>
              <a:path h="9547927" w="9547927">
                <a:moveTo>
                  <a:pt x="0" y="0"/>
                </a:moveTo>
                <a:lnTo>
                  <a:pt x="9547927" y="0"/>
                </a:lnTo>
                <a:lnTo>
                  <a:pt x="9547927" y="9547927"/>
                </a:lnTo>
                <a:lnTo>
                  <a:pt x="0" y="95479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00000">
            <a:off x="14191623" y="0"/>
            <a:ext cx="9547927" cy="9547927"/>
          </a:xfrm>
          <a:custGeom>
            <a:avLst/>
            <a:gdLst/>
            <a:ahLst/>
            <a:cxnLst/>
            <a:rect r="r" b="b" t="t" l="l"/>
            <a:pathLst>
              <a:path h="9547927" w="9547927">
                <a:moveTo>
                  <a:pt x="0" y="0"/>
                </a:moveTo>
                <a:lnTo>
                  <a:pt x="9547927" y="0"/>
                </a:lnTo>
                <a:lnTo>
                  <a:pt x="9547927" y="9547927"/>
                </a:lnTo>
                <a:lnTo>
                  <a:pt x="0" y="95479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80148" y="7375516"/>
            <a:ext cx="6527704" cy="67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4"/>
              </a:lnSpc>
            </a:pPr>
            <a:r>
              <a:rPr lang="en-US" sz="3499" spc="-13">
                <a:solidFill>
                  <a:srgbClr val="FFFFFF"/>
                </a:solidFill>
                <a:latin typeface="Rugrats Sans"/>
                <a:ea typeface="Rugrats Sans"/>
                <a:cs typeface="Rugrats Sans"/>
                <a:sym typeface="Rugrats Sans"/>
              </a:rPr>
              <a:t>02 de diciembre de 2025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97598" y="4511149"/>
            <a:ext cx="7492805" cy="90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b="true" sz="7200">
                <a:solidFill>
                  <a:srgbClr val="E6EDFF"/>
                </a:solidFill>
                <a:latin typeface="Literata Bold"/>
                <a:ea typeface="Literata Bold"/>
                <a:cs typeface="Literata Bold"/>
                <a:sym typeface="Literata Bold"/>
              </a:rPr>
              <a:t>¿Preguntas?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8522394"/>
            <a:ext cx="1724987" cy="1764606"/>
          </a:xfrm>
          <a:custGeom>
            <a:avLst/>
            <a:gdLst/>
            <a:ahLst/>
            <a:cxnLst/>
            <a:rect r="r" b="b" t="t" l="l"/>
            <a:pathLst>
              <a:path h="1764606" w="1724987">
                <a:moveTo>
                  <a:pt x="0" y="0"/>
                </a:moveTo>
                <a:lnTo>
                  <a:pt x="1724987" y="0"/>
                </a:lnTo>
                <a:lnTo>
                  <a:pt x="1724987" y="1764606"/>
                </a:lnTo>
                <a:lnTo>
                  <a:pt x="0" y="1764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96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522394"/>
            <a:ext cx="1724987" cy="1764606"/>
          </a:xfrm>
          <a:custGeom>
            <a:avLst/>
            <a:gdLst/>
            <a:ahLst/>
            <a:cxnLst/>
            <a:rect r="r" b="b" t="t" l="l"/>
            <a:pathLst>
              <a:path h="1764606" w="1724987">
                <a:moveTo>
                  <a:pt x="0" y="0"/>
                </a:moveTo>
                <a:lnTo>
                  <a:pt x="1724987" y="0"/>
                </a:lnTo>
                <a:lnTo>
                  <a:pt x="1724987" y="1764606"/>
                </a:lnTo>
                <a:lnTo>
                  <a:pt x="0" y="1764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9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00004" y="0"/>
            <a:ext cx="8687992" cy="10287000"/>
          </a:xfrm>
          <a:custGeom>
            <a:avLst/>
            <a:gdLst/>
            <a:ahLst/>
            <a:cxnLst/>
            <a:rect r="r" b="b" t="t" l="l"/>
            <a:pathLst>
              <a:path h="10287000" w="8687992">
                <a:moveTo>
                  <a:pt x="0" y="0"/>
                </a:moveTo>
                <a:lnTo>
                  <a:pt x="8687992" y="0"/>
                </a:lnTo>
                <a:lnTo>
                  <a:pt x="86879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6" r="0" b="-17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-5645219" y="369537"/>
            <a:ext cx="9547927" cy="9547927"/>
          </a:xfrm>
          <a:custGeom>
            <a:avLst/>
            <a:gdLst/>
            <a:ahLst/>
            <a:cxnLst/>
            <a:rect r="r" b="b" t="t" l="l"/>
            <a:pathLst>
              <a:path h="9547927" w="9547927">
                <a:moveTo>
                  <a:pt x="0" y="0"/>
                </a:moveTo>
                <a:lnTo>
                  <a:pt x="9547927" y="0"/>
                </a:lnTo>
                <a:lnTo>
                  <a:pt x="9547927" y="9547926"/>
                </a:lnTo>
                <a:lnTo>
                  <a:pt x="0" y="9547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4252856" y="369537"/>
            <a:ext cx="9547927" cy="9547927"/>
          </a:xfrm>
          <a:custGeom>
            <a:avLst/>
            <a:gdLst/>
            <a:ahLst/>
            <a:cxnLst/>
            <a:rect r="r" b="b" t="t" l="l"/>
            <a:pathLst>
              <a:path h="9547927" w="9547927">
                <a:moveTo>
                  <a:pt x="0" y="0"/>
                </a:moveTo>
                <a:lnTo>
                  <a:pt x="9547926" y="0"/>
                </a:lnTo>
                <a:lnTo>
                  <a:pt x="9547926" y="9547926"/>
                </a:lnTo>
                <a:lnTo>
                  <a:pt x="0" y="9547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14179" y="5413279"/>
            <a:ext cx="6743998" cy="115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DISEÑO</a:t>
            </a:r>
          </a:p>
          <a:p>
            <a:pPr algn="ctr">
              <a:lnSpc>
                <a:spcPts val="2974"/>
              </a:lnSpc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O</a:t>
            </a:r>
          </a:p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MODIFICCION</a:t>
            </a:r>
          </a:p>
        </p:txBody>
      </p:sp>
      <p:sp>
        <p:nvSpPr>
          <p:cNvPr name="AutoShape 7" id="7"/>
          <p:cNvSpPr/>
          <p:nvPr/>
        </p:nvSpPr>
        <p:spPr>
          <a:xfrm>
            <a:off x="9335611" y="3377684"/>
            <a:ext cx="2939804" cy="25765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81026" y="8598594"/>
            <a:ext cx="6743998" cy="115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DISEÑO</a:t>
            </a:r>
          </a:p>
          <a:p>
            <a:pPr algn="ctr">
              <a:lnSpc>
                <a:spcPts val="2974"/>
              </a:lnSpc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Y</a:t>
            </a:r>
          </a:p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VERIFICACION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4437070">
            <a:off x="2294611" y="3251729"/>
            <a:ext cx="1791551" cy="1071760"/>
          </a:xfrm>
          <a:custGeom>
            <a:avLst/>
            <a:gdLst/>
            <a:ahLst/>
            <a:cxnLst/>
            <a:rect r="r" b="b" t="t" l="l"/>
            <a:pathLst>
              <a:path h="1071760" w="1791551">
                <a:moveTo>
                  <a:pt x="0" y="0"/>
                </a:moveTo>
                <a:lnTo>
                  <a:pt x="1791551" y="0"/>
                </a:lnTo>
                <a:lnTo>
                  <a:pt x="1791551" y="1071760"/>
                </a:lnTo>
                <a:lnTo>
                  <a:pt x="0" y="10717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2493" y="1104900"/>
            <a:ext cx="6743998" cy="115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INSTALACIÓN</a:t>
            </a:r>
          </a:p>
          <a:p>
            <a:pPr algn="ctr">
              <a:lnSpc>
                <a:spcPts val="2974"/>
              </a:lnSpc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Y</a:t>
            </a:r>
          </a:p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VALIDACION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36742" y="8598594"/>
            <a:ext cx="6743998" cy="115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ESPECIFICACIONES</a:t>
            </a:r>
          </a:p>
          <a:p>
            <a:pPr algn="ctr">
              <a:lnSpc>
                <a:spcPts val="2974"/>
              </a:lnSpc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DE</a:t>
            </a:r>
          </a:p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SEGURIDAD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36742" y="1104900"/>
            <a:ext cx="6743998" cy="115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EVALUACION</a:t>
            </a:r>
          </a:p>
          <a:p>
            <a:pPr algn="ctr">
              <a:lnSpc>
                <a:spcPts val="2974"/>
              </a:lnSpc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DE</a:t>
            </a:r>
          </a:p>
          <a:p>
            <a:pPr algn="ctr" marL="0" indent="0" lvl="0">
              <a:lnSpc>
                <a:spcPts val="2974"/>
              </a:lnSpc>
              <a:spcBef>
                <a:spcPct val="0"/>
              </a:spcBef>
            </a:pPr>
            <a:r>
              <a:rPr lang="en-US" sz="3197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RIESGOS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6075386">
            <a:off x="2294611" y="6123627"/>
            <a:ext cx="1791551" cy="1071760"/>
          </a:xfrm>
          <a:custGeom>
            <a:avLst/>
            <a:gdLst/>
            <a:ahLst/>
            <a:cxnLst/>
            <a:rect r="r" b="b" t="t" l="l"/>
            <a:pathLst>
              <a:path h="1071760" w="1791551">
                <a:moveTo>
                  <a:pt x="0" y="0"/>
                </a:moveTo>
                <a:lnTo>
                  <a:pt x="1791551" y="0"/>
                </a:lnTo>
                <a:lnTo>
                  <a:pt x="1791551" y="1071760"/>
                </a:lnTo>
                <a:lnTo>
                  <a:pt x="0" y="10717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968724">
            <a:off x="14470019" y="2841804"/>
            <a:ext cx="1791551" cy="1071760"/>
          </a:xfrm>
          <a:custGeom>
            <a:avLst/>
            <a:gdLst/>
            <a:ahLst/>
            <a:cxnLst/>
            <a:rect r="r" b="b" t="t" l="l"/>
            <a:pathLst>
              <a:path h="1071760" w="1791551">
                <a:moveTo>
                  <a:pt x="0" y="0"/>
                </a:moveTo>
                <a:lnTo>
                  <a:pt x="1791552" y="0"/>
                </a:lnTo>
                <a:lnTo>
                  <a:pt x="1791552" y="1071760"/>
                </a:lnTo>
                <a:lnTo>
                  <a:pt x="0" y="10717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6239636">
            <a:off x="14825810" y="5799975"/>
            <a:ext cx="1791551" cy="1071760"/>
          </a:xfrm>
          <a:custGeom>
            <a:avLst/>
            <a:gdLst/>
            <a:ahLst/>
            <a:cxnLst/>
            <a:rect r="r" b="b" t="t" l="l"/>
            <a:pathLst>
              <a:path h="1071760" w="1791551">
                <a:moveTo>
                  <a:pt x="0" y="0"/>
                </a:moveTo>
                <a:lnTo>
                  <a:pt x="1791551" y="0"/>
                </a:lnTo>
                <a:lnTo>
                  <a:pt x="1791551" y="1071760"/>
                </a:lnTo>
                <a:lnTo>
                  <a:pt x="0" y="10717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4861082">
            <a:off x="12190402" y="3474444"/>
            <a:ext cx="1791551" cy="1071760"/>
          </a:xfrm>
          <a:custGeom>
            <a:avLst/>
            <a:gdLst/>
            <a:ahLst/>
            <a:cxnLst/>
            <a:rect r="r" b="b" t="t" l="l"/>
            <a:pathLst>
              <a:path h="1071760" w="1791551">
                <a:moveTo>
                  <a:pt x="0" y="0"/>
                </a:moveTo>
                <a:lnTo>
                  <a:pt x="1791552" y="0"/>
                </a:lnTo>
                <a:lnTo>
                  <a:pt x="1791552" y="1071760"/>
                </a:lnTo>
                <a:lnTo>
                  <a:pt x="0" y="10717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-5654744" y="0"/>
            <a:ext cx="9547927" cy="9547927"/>
          </a:xfrm>
          <a:custGeom>
            <a:avLst/>
            <a:gdLst/>
            <a:ahLst/>
            <a:cxnLst/>
            <a:rect r="r" b="b" t="t" l="l"/>
            <a:pathLst>
              <a:path h="9547927" w="9547927">
                <a:moveTo>
                  <a:pt x="0" y="0"/>
                </a:moveTo>
                <a:lnTo>
                  <a:pt x="9547927" y="0"/>
                </a:lnTo>
                <a:lnTo>
                  <a:pt x="9547927" y="9547927"/>
                </a:lnTo>
                <a:lnTo>
                  <a:pt x="0" y="95479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4191623" y="0"/>
            <a:ext cx="9547927" cy="9547927"/>
          </a:xfrm>
          <a:custGeom>
            <a:avLst/>
            <a:gdLst/>
            <a:ahLst/>
            <a:cxnLst/>
            <a:rect r="r" b="b" t="t" l="l"/>
            <a:pathLst>
              <a:path h="9547927" w="9547927">
                <a:moveTo>
                  <a:pt x="0" y="0"/>
                </a:moveTo>
                <a:lnTo>
                  <a:pt x="9547927" y="0"/>
                </a:lnTo>
                <a:lnTo>
                  <a:pt x="9547927" y="9547927"/>
                </a:lnTo>
                <a:lnTo>
                  <a:pt x="0" y="95479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668" y="57150"/>
            <a:ext cx="18288000" cy="918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12100          (Tipo A): Principios generales para el diseño seguro de máquinas. 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14121-1       (Tipo A): Evaluación de riesgos y métodos de reducción.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13849-1      (Tipo B): Control de seguridad, categorías y niveles de prestaciones (PL). 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13849-2     (Tipo B): Validación y verificación de funciones de seguridad.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IEC 62061          (Tipo B): Seguridad funcional en sistemas eléctricos y electrónicos.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14119           (Tipo B): Enclavamientos y dispositivos de control de resguardos.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13857          (Tipo B): Distancias de seguridad para evitar el acceso a zonas peligrosas.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14120          (Tipo B): Requisitos para el diseño y construcción de resguardos físicos.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14118           (Tipo B): Prevención de arranques inesperados de maquinaria.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13850         (Tipo B): Requisitos funcionales para paradas de emergencia.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10218-1      (Tipo C): Seguridad y diseño de robots industriales. 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10218-2      (Tipo C): Integración segura de robots y celdas automatizadas.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ISO/TS 15066 (Tipo C): Seguridad para robots colaborativos e interacción humano-robot.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16092-1      (Tipo C): Seguridad general en prensas mecánicas.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16092-2      (Tipo C): Requisitos específicos para prensas mecánicas.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16092-3     (Tipo C): Seguridad en prensas hidráulicas.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11111-1         (Tipo C): Requisitos generales de seguridad para maquinaria textil.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11111-4        (Tipo C): Seguridad en máquinas de acabado textil.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19085-1      (Tipo C): Seguridad en máquinas para trabajar madera.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ISO 19085-3     (Tipo C): Seguridad en centros de mecanizado y routers CNC para madera.</a:t>
            </a:r>
          </a:p>
          <a:p>
            <a:pPr algn="l">
              <a:lnSpc>
                <a:spcPts val="3147"/>
              </a:lnSpc>
            </a:pPr>
            <a:r>
              <a:rPr lang="en-US" sz="3085" spc="98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Ley de Higiene y Seguridad en el Trabajo N.º 19.587Ley de Higiene y Seguridad en el Trabajo N.º 19.587</a:t>
            </a:r>
          </a:p>
          <a:p>
            <a:pPr algn="ctr" marL="0" indent="0" lvl="0">
              <a:lnSpc>
                <a:spcPts val="314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642583" y="8896500"/>
            <a:ext cx="12106575" cy="13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2120" spc="67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Normas tipo A: Fundamentos y terminología general de seguridad de máquinas.</a:t>
            </a:r>
          </a:p>
          <a:p>
            <a:pPr algn="l">
              <a:lnSpc>
                <a:spcPts val="2162"/>
              </a:lnSpc>
            </a:pPr>
            <a:r>
              <a:rPr lang="en-US" sz="2120" spc="67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Normas tipo B: Aspectos o componentes específicos aplicables a diferentes tipos de máquinas.</a:t>
            </a:r>
          </a:p>
          <a:p>
            <a:pPr algn="l">
              <a:lnSpc>
                <a:spcPts val="2162"/>
              </a:lnSpc>
            </a:pPr>
            <a:r>
              <a:rPr lang="en-US" sz="2120" spc="67" b="true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Normas tipo C: Aplican a máquinas o familias de máquinas específicas.</a:t>
            </a:r>
          </a:p>
          <a:p>
            <a:pPr algn="l" marL="0" indent="0" lvl="0">
              <a:lnSpc>
                <a:spcPts val="2162"/>
              </a:lnSpc>
            </a:pPr>
            <a:r>
              <a:rPr lang="en-US" b="true" sz="2120" spc="67">
                <a:solidFill>
                  <a:srgbClr val="FFFFFF"/>
                </a:solidFill>
                <a:latin typeface="Literata Bold"/>
                <a:ea typeface="Literata Bold"/>
                <a:cs typeface="Literata Bold"/>
                <a:sym typeface="Literata Bold"/>
              </a:rPr>
              <a:t>Ley de Higiene y Seguridad en el Trabajo N.º 19.587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DAG2zpue-Ks</dc:identifier>
  <dcterms:modified xsi:type="dcterms:W3CDTF">2011-08-01T06:04:30Z</dcterms:modified>
  <cp:revision>1</cp:revision>
  <dc:title>Presentación de Universidad Trabajo Final de Grado Arquitectura Minimalista Azul</dc:title>
</cp:coreProperties>
</file>